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753600" cy="7315200"/>
  <p:notesSz cx="6858000" cy="9144000"/>
  <p:embeddedFontLst>
    <p:embeddedFont>
      <p:font typeface="Archivo Black" charset="1" panose="020B0A03020202020B04"/>
      <p:regular r:id="rId18"/>
    </p:embeddedFont>
    <p:embeddedFont>
      <p:font typeface="Montserrat" charset="1" panose="00000500000000000000"/>
      <p:regular r:id="rId19"/>
    </p:embeddedFont>
    <p:embeddedFont>
      <p:font typeface="Montserrat Bold" charset="1" panose="00000800000000000000"/>
      <p:regular r:id="rId20"/>
    </p:embeddedFont>
    <p:embeddedFont>
      <p:font typeface="Open Sans Bold" charset="1" panose="00000000000000000000"/>
      <p:regular r:id="rId21"/>
    </p:embeddedFont>
    <p:embeddedFont>
      <p:font typeface="DM Sans Bold" charset="1" panose="00000000000000000000"/>
      <p:regular r:id="rId22"/>
    </p:embeddedFont>
    <p:embeddedFont>
      <p:font typeface="Open Sans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22080" y="2669615"/>
            <a:ext cx="1975970" cy="197597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4CC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5585620"/>
            <a:ext cx="9753600" cy="3144561"/>
          </a:xfrm>
          <a:custGeom>
            <a:avLst/>
            <a:gdLst/>
            <a:ahLst/>
            <a:cxnLst/>
            <a:rect r="r" b="b" t="t" l="l"/>
            <a:pathLst>
              <a:path h="3144561" w="9753600">
                <a:moveTo>
                  <a:pt x="0" y="0"/>
                </a:moveTo>
                <a:lnTo>
                  <a:pt x="9753600" y="0"/>
                </a:lnTo>
                <a:lnTo>
                  <a:pt x="9753600" y="3144560"/>
                </a:lnTo>
                <a:lnTo>
                  <a:pt x="0" y="3144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377552" y="-1179509"/>
            <a:ext cx="2755104" cy="275510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4CC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31520" y="5224634"/>
            <a:ext cx="1025814" cy="1025814"/>
          </a:xfrm>
          <a:custGeom>
            <a:avLst/>
            <a:gdLst/>
            <a:ahLst/>
            <a:cxnLst/>
            <a:rect r="r" b="b" t="t" l="l"/>
            <a:pathLst>
              <a:path h="1025814" w="1025814">
                <a:moveTo>
                  <a:pt x="0" y="0"/>
                </a:moveTo>
                <a:lnTo>
                  <a:pt x="1025814" y="0"/>
                </a:lnTo>
                <a:lnTo>
                  <a:pt x="1025814" y="1025814"/>
                </a:lnTo>
                <a:lnTo>
                  <a:pt x="0" y="10258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26171" y="1724183"/>
            <a:ext cx="7901258" cy="2626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0"/>
              </a:lnSpc>
            </a:pPr>
            <a:r>
              <a:rPr lang="en-US" sz="4600">
                <a:solidFill>
                  <a:srgbClr val="1F3685"/>
                </a:solidFill>
                <a:latin typeface="Archivo Black"/>
                <a:ea typeface="Archivo Black"/>
                <a:cs typeface="Archivo Black"/>
                <a:sym typeface="Archivo Black"/>
              </a:rPr>
              <a:t>MULTI-REGION WEB APPLICATION</a:t>
            </a:r>
          </a:p>
          <a:p>
            <a:pPr algn="ctr">
              <a:lnSpc>
                <a:spcPts val="4140"/>
              </a:lnSpc>
            </a:pPr>
            <a:r>
              <a:rPr lang="en-US" sz="4600">
                <a:solidFill>
                  <a:srgbClr val="1F3685"/>
                </a:solidFill>
                <a:latin typeface="Archivo Black"/>
                <a:ea typeface="Archivo Black"/>
                <a:cs typeface="Archivo Black"/>
                <a:sym typeface="Archivo Black"/>
              </a:rPr>
              <a:t>AZURE HUB &amp; SPOKE ARCHITECTURE</a:t>
            </a:r>
          </a:p>
          <a:p>
            <a:pPr algn="ctr">
              <a:lnSpc>
                <a:spcPts val="387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174086" y="4684555"/>
            <a:ext cx="3792475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0"/>
              </a:lnSpc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Khaled Gamal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512401" y="-521129"/>
            <a:ext cx="1074077" cy="1074077"/>
          </a:xfrm>
          <a:custGeom>
            <a:avLst/>
            <a:gdLst/>
            <a:ahLst/>
            <a:cxnLst/>
            <a:rect r="r" b="b" t="t" l="l"/>
            <a:pathLst>
              <a:path h="1074077" w="1074077">
                <a:moveTo>
                  <a:pt x="0" y="0"/>
                </a:moveTo>
                <a:lnTo>
                  <a:pt x="1074076" y="0"/>
                </a:lnTo>
                <a:lnTo>
                  <a:pt x="1074076" y="1074076"/>
                </a:lnTo>
                <a:lnTo>
                  <a:pt x="0" y="10740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862029" y="5042695"/>
            <a:ext cx="3792475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0"/>
              </a:lnSpc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Alaa Amir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57334" y="4684555"/>
            <a:ext cx="2124819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Prepared by 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941580" y="1249734"/>
            <a:ext cx="4169090" cy="834210"/>
          </a:xfrm>
          <a:custGeom>
            <a:avLst/>
            <a:gdLst/>
            <a:ahLst/>
            <a:cxnLst/>
            <a:rect r="r" b="b" t="t" l="l"/>
            <a:pathLst>
              <a:path h="834210" w="4169090">
                <a:moveTo>
                  <a:pt x="0" y="0"/>
                </a:moveTo>
                <a:lnTo>
                  <a:pt x="4169090" y="0"/>
                </a:lnTo>
                <a:lnTo>
                  <a:pt x="4169090" y="834210"/>
                </a:lnTo>
                <a:lnTo>
                  <a:pt x="0" y="834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6014" t="0" r="-67935" b="-27695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53607" y="6962442"/>
            <a:ext cx="10844387" cy="703368"/>
            <a:chOff x="0" y="0"/>
            <a:chExt cx="4016440" cy="2605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16440" cy="260507"/>
            </a:xfrm>
            <a:custGeom>
              <a:avLst/>
              <a:gdLst/>
              <a:ahLst/>
              <a:cxnLst/>
              <a:rect r="r" b="b" t="t" l="l"/>
              <a:pathLst>
                <a:path h="260507" w="4016440">
                  <a:moveTo>
                    <a:pt x="25701" y="0"/>
                  </a:moveTo>
                  <a:lnTo>
                    <a:pt x="3990739" y="0"/>
                  </a:lnTo>
                  <a:cubicBezTo>
                    <a:pt x="3997555" y="0"/>
                    <a:pt x="4004092" y="2708"/>
                    <a:pt x="4008912" y="7528"/>
                  </a:cubicBezTo>
                  <a:cubicBezTo>
                    <a:pt x="4013732" y="12347"/>
                    <a:pt x="4016440" y="18885"/>
                    <a:pt x="4016440" y="25701"/>
                  </a:cubicBezTo>
                  <a:lnTo>
                    <a:pt x="4016440" y="234806"/>
                  </a:lnTo>
                  <a:cubicBezTo>
                    <a:pt x="4016440" y="241622"/>
                    <a:pt x="4013732" y="248159"/>
                    <a:pt x="4008912" y="252979"/>
                  </a:cubicBezTo>
                  <a:cubicBezTo>
                    <a:pt x="4004092" y="257799"/>
                    <a:pt x="3997555" y="260507"/>
                    <a:pt x="3990739" y="260507"/>
                  </a:cubicBezTo>
                  <a:lnTo>
                    <a:pt x="25701" y="260507"/>
                  </a:lnTo>
                  <a:cubicBezTo>
                    <a:pt x="11507" y="260507"/>
                    <a:pt x="0" y="249000"/>
                    <a:pt x="0" y="234806"/>
                  </a:cubicBezTo>
                  <a:lnTo>
                    <a:pt x="0" y="25701"/>
                  </a:lnTo>
                  <a:cubicBezTo>
                    <a:pt x="0" y="18885"/>
                    <a:pt x="2708" y="12347"/>
                    <a:pt x="7528" y="7528"/>
                  </a:cubicBezTo>
                  <a:cubicBezTo>
                    <a:pt x="12347" y="2708"/>
                    <a:pt x="18885" y="0"/>
                    <a:pt x="25701" y="0"/>
                  </a:cubicBezTo>
                  <a:close/>
                </a:path>
              </a:pathLst>
            </a:custGeom>
            <a:solidFill>
              <a:srgbClr val="1F368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4016440" cy="212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90867" y="1045000"/>
            <a:ext cx="6700959" cy="3758649"/>
            <a:chOff x="0" y="0"/>
            <a:chExt cx="2481837" cy="13920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81836" cy="1392092"/>
            </a:xfrm>
            <a:custGeom>
              <a:avLst/>
              <a:gdLst/>
              <a:ahLst/>
              <a:cxnLst/>
              <a:rect r="r" b="b" t="t" l="l"/>
              <a:pathLst>
                <a:path h="1392092" w="2481836">
                  <a:moveTo>
                    <a:pt x="41592" y="0"/>
                  </a:moveTo>
                  <a:lnTo>
                    <a:pt x="2440244" y="0"/>
                  </a:lnTo>
                  <a:cubicBezTo>
                    <a:pt x="2463215" y="0"/>
                    <a:pt x="2481836" y="18622"/>
                    <a:pt x="2481836" y="41592"/>
                  </a:cubicBezTo>
                  <a:lnTo>
                    <a:pt x="2481836" y="1350500"/>
                  </a:lnTo>
                  <a:cubicBezTo>
                    <a:pt x="2481836" y="1361531"/>
                    <a:pt x="2477454" y="1372110"/>
                    <a:pt x="2469654" y="1379910"/>
                  </a:cubicBezTo>
                  <a:cubicBezTo>
                    <a:pt x="2461854" y="1387710"/>
                    <a:pt x="2451275" y="1392092"/>
                    <a:pt x="2440244" y="1392092"/>
                  </a:cubicBezTo>
                  <a:lnTo>
                    <a:pt x="41592" y="1392092"/>
                  </a:lnTo>
                  <a:cubicBezTo>
                    <a:pt x="30561" y="1392092"/>
                    <a:pt x="19982" y="1387710"/>
                    <a:pt x="12182" y="1379910"/>
                  </a:cubicBezTo>
                  <a:cubicBezTo>
                    <a:pt x="4382" y="1372110"/>
                    <a:pt x="0" y="1361531"/>
                    <a:pt x="0" y="1350500"/>
                  </a:cubicBezTo>
                  <a:lnTo>
                    <a:pt x="0" y="41592"/>
                  </a:lnTo>
                  <a:cubicBezTo>
                    <a:pt x="0" y="30561"/>
                    <a:pt x="4382" y="19982"/>
                    <a:pt x="12182" y="12182"/>
                  </a:cubicBezTo>
                  <a:cubicBezTo>
                    <a:pt x="19982" y="4382"/>
                    <a:pt x="30561" y="0"/>
                    <a:pt x="41592" y="0"/>
                  </a:cubicBezTo>
                  <a:close/>
                </a:path>
              </a:pathLst>
            </a:custGeom>
            <a:solidFill>
              <a:srgbClr val="DFE9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2481837" cy="1344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14595" y="731520"/>
            <a:ext cx="5574655" cy="626959"/>
            <a:chOff x="0" y="0"/>
            <a:chExt cx="2064687" cy="2322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64687" cy="232207"/>
            </a:xfrm>
            <a:custGeom>
              <a:avLst/>
              <a:gdLst/>
              <a:ahLst/>
              <a:cxnLst/>
              <a:rect r="r" b="b" t="t" l="l"/>
              <a:pathLst>
                <a:path h="232207" w="2064687">
                  <a:moveTo>
                    <a:pt x="49996" y="0"/>
                  </a:moveTo>
                  <a:lnTo>
                    <a:pt x="2014691" y="0"/>
                  </a:lnTo>
                  <a:cubicBezTo>
                    <a:pt x="2027951" y="0"/>
                    <a:pt x="2040667" y="5267"/>
                    <a:pt x="2050043" y="14643"/>
                  </a:cubicBezTo>
                  <a:cubicBezTo>
                    <a:pt x="2059420" y="24019"/>
                    <a:pt x="2064687" y="36736"/>
                    <a:pt x="2064687" y="49996"/>
                  </a:cubicBezTo>
                  <a:lnTo>
                    <a:pt x="2064687" y="182211"/>
                  </a:lnTo>
                  <a:cubicBezTo>
                    <a:pt x="2064687" y="195471"/>
                    <a:pt x="2059420" y="208188"/>
                    <a:pt x="2050043" y="217564"/>
                  </a:cubicBezTo>
                  <a:cubicBezTo>
                    <a:pt x="2040667" y="226940"/>
                    <a:pt x="2027951" y="232207"/>
                    <a:pt x="2014691" y="232207"/>
                  </a:cubicBezTo>
                  <a:lnTo>
                    <a:pt x="49996" y="232207"/>
                  </a:lnTo>
                  <a:cubicBezTo>
                    <a:pt x="22384" y="232207"/>
                    <a:pt x="0" y="209823"/>
                    <a:pt x="0" y="182211"/>
                  </a:cubicBezTo>
                  <a:lnTo>
                    <a:pt x="0" y="49996"/>
                  </a:lnTo>
                  <a:cubicBezTo>
                    <a:pt x="0" y="36736"/>
                    <a:pt x="5267" y="24019"/>
                    <a:pt x="14643" y="14643"/>
                  </a:cubicBezTo>
                  <a:cubicBezTo>
                    <a:pt x="24019" y="5267"/>
                    <a:pt x="36736" y="0"/>
                    <a:pt x="49996" y="0"/>
                  </a:cubicBezTo>
                  <a:close/>
                </a:path>
              </a:pathLst>
            </a:custGeom>
            <a:solidFill>
              <a:srgbClr val="2B4CC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47625"/>
              <a:ext cx="2064687" cy="184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14595" y="1643594"/>
            <a:ext cx="677094" cy="497193"/>
            <a:chOff x="0" y="0"/>
            <a:chExt cx="1106899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6899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899">
                  <a:moveTo>
                    <a:pt x="553449" y="0"/>
                  </a:moveTo>
                  <a:cubicBezTo>
                    <a:pt x="247788" y="0"/>
                    <a:pt x="0" y="181951"/>
                    <a:pt x="0" y="406400"/>
                  </a:cubicBezTo>
                  <a:cubicBezTo>
                    <a:pt x="0" y="630849"/>
                    <a:pt x="247788" y="812800"/>
                    <a:pt x="553449" y="812800"/>
                  </a:cubicBezTo>
                  <a:cubicBezTo>
                    <a:pt x="859111" y="812800"/>
                    <a:pt x="1106899" y="630849"/>
                    <a:pt x="1106899" y="406400"/>
                  </a:cubicBezTo>
                  <a:cubicBezTo>
                    <a:pt x="1106899" y="181951"/>
                    <a:pt x="859111" y="0"/>
                    <a:pt x="553449" y="0"/>
                  </a:cubicBezTo>
                  <a:close/>
                </a:path>
              </a:pathLst>
            </a:custGeom>
            <a:solidFill>
              <a:srgbClr val="2B4CC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03772" y="123825"/>
              <a:ext cx="899355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5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14595" y="2207462"/>
            <a:ext cx="677094" cy="497193"/>
            <a:chOff x="0" y="0"/>
            <a:chExt cx="1106899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6899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899">
                  <a:moveTo>
                    <a:pt x="553449" y="0"/>
                  </a:moveTo>
                  <a:cubicBezTo>
                    <a:pt x="247788" y="0"/>
                    <a:pt x="0" y="181951"/>
                    <a:pt x="0" y="406400"/>
                  </a:cubicBezTo>
                  <a:cubicBezTo>
                    <a:pt x="0" y="630849"/>
                    <a:pt x="247788" y="812800"/>
                    <a:pt x="553449" y="812800"/>
                  </a:cubicBezTo>
                  <a:cubicBezTo>
                    <a:pt x="859111" y="812800"/>
                    <a:pt x="1106899" y="630849"/>
                    <a:pt x="1106899" y="406400"/>
                  </a:cubicBezTo>
                  <a:cubicBezTo>
                    <a:pt x="1106899" y="181951"/>
                    <a:pt x="859111" y="0"/>
                    <a:pt x="553449" y="0"/>
                  </a:cubicBezTo>
                  <a:close/>
                </a:path>
              </a:pathLst>
            </a:custGeom>
            <a:solidFill>
              <a:srgbClr val="2B4CC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03772" y="123825"/>
              <a:ext cx="899355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5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398552" y="1691202"/>
            <a:ext cx="375043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Project Overview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98552" y="2283656"/>
            <a:ext cx="424130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Architecture Overview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26519" y="913555"/>
            <a:ext cx="4877245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9"/>
              </a:lnSpc>
            </a:pPr>
            <a:r>
              <a:rPr lang="en-US" b="true" sz="289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Agenda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115300" y="740199"/>
            <a:ext cx="906780" cy="906780"/>
          </a:xfrm>
          <a:custGeom>
            <a:avLst/>
            <a:gdLst/>
            <a:ahLst/>
            <a:cxnLst/>
            <a:rect r="r" b="b" t="t" l="l"/>
            <a:pathLst>
              <a:path h="906780" w="906780">
                <a:moveTo>
                  <a:pt x="0" y="0"/>
                </a:moveTo>
                <a:lnTo>
                  <a:pt x="906780" y="0"/>
                </a:lnTo>
                <a:lnTo>
                  <a:pt x="906780" y="906781"/>
                </a:lnTo>
                <a:lnTo>
                  <a:pt x="0" y="9067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614595" y="2771330"/>
            <a:ext cx="677094" cy="497193"/>
            <a:chOff x="0" y="0"/>
            <a:chExt cx="1106899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6899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899">
                  <a:moveTo>
                    <a:pt x="553449" y="0"/>
                  </a:moveTo>
                  <a:cubicBezTo>
                    <a:pt x="247788" y="0"/>
                    <a:pt x="0" y="181951"/>
                    <a:pt x="0" y="406400"/>
                  </a:cubicBezTo>
                  <a:cubicBezTo>
                    <a:pt x="0" y="630849"/>
                    <a:pt x="247788" y="812800"/>
                    <a:pt x="553449" y="812800"/>
                  </a:cubicBezTo>
                  <a:cubicBezTo>
                    <a:pt x="859111" y="812800"/>
                    <a:pt x="1106899" y="630849"/>
                    <a:pt x="1106899" y="406400"/>
                  </a:cubicBezTo>
                  <a:cubicBezTo>
                    <a:pt x="1106899" y="181951"/>
                    <a:pt x="859111" y="0"/>
                    <a:pt x="553449" y="0"/>
                  </a:cubicBezTo>
                  <a:close/>
                </a:path>
              </a:pathLst>
            </a:custGeom>
            <a:solidFill>
              <a:srgbClr val="2B4CC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03772" y="123825"/>
              <a:ext cx="899355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5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14595" y="3360797"/>
            <a:ext cx="677094" cy="497193"/>
            <a:chOff x="0" y="0"/>
            <a:chExt cx="1106899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06899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899">
                  <a:moveTo>
                    <a:pt x="553449" y="0"/>
                  </a:moveTo>
                  <a:cubicBezTo>
                    <a:pt x="247788" y="0"/>
                    <a:pt x="0" y="181951"/>
                    <a:pt x="0" y="406400"/>
                  </a:cubicBezTo>
                  <a:cubicBezTo>
                    <a:pt x="0" y="630849"/>
                    <a:pt x="247788" y="812800"/>
                    <a:pt x="553449" y="812800"/>
                  </a:cubicBezTo>
                  <a:cubicBezTo>
                    <a:pt x="859111" y="812800"/>
                    <a:pt x="1106899" y="630849"/>
                    <a:pt x="1106899" y="406400"/>
                  </a:cubicBezTo>
                  <a:cubicBezTo>
                    <a:pt x="1106899" y="181951"/>
                    <a:pt x="859111" y="0"/>
                    <a:pt x="553449" y="0"/>
                  </a:cubicBezTo>
                  <a:close/>
                </a:path>
              </a:pathLst>
            </a:custGeom>
            <a:solidFill>
              <a:srgbClr val="2B4CC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03772" y="123825"/>
              <a:ext cx="899355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5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398552" y="2847524"/>
            <a:ext cx="422361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Packet Walk-Through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98552" y="3436991"/>
            <a:ext cx="422361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Key Benefits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614595" y="3953239"/>
            <a:ext cx="677094" cy="497193"/>
            <a:chOff x="0" y="0"/>
            <a:chExt cx="1106899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06899" cy="812800"/>
            </a:xfrm>
            <a:custGeom>
              <a:avLst/>
              <a:gdLst/>
              <a:ahLst/>
              <a:cxnLst/>
              <a:rect r="r" b="b" t="t" l="l"/>
              <a:pathLst>
                <a:path h="812800" w="1106899">
                  <a:moveTo>
                    <a:pt x="553449" y="0"/>
                  </a:moveTo>
                  <a:cubicBezTo>
                    <a:pt x="247788" y="0"/>
                    <a:pt x="0" y="181951"/>
                    <a:pt x="0" y="406400"/>
                  </a:cubicBezTo>
                  <a:cubicBezTo>
                    <a:pt x="0" y="630849"/>
                    <a:pt x="247788" y="812800"/>
                    <a:pt x="553449" y="812800"/>
                  </a:cubicBezTo>
                  <a:cubicBezTo>
                    <a:pt x="859111" y="812800"/>
                    <a:pt x="1106899" y="630849"/>
                    <a:pt x="1106899" y="406400"/>
                  </a:cubicBezTo>
                  <a:cubicBezTo>
                    <a:pt x="1106899" y="181951"/>
                    <a:pt x="859111" y="0"/>
                    <a:pt x="553449" y="0"/>
                  </a:cubicBezTo>
                  <a:close/>
                </a:path>
              </a:pathLst>
            </a:custGeom>
            <a:solidFill>
              <a:srgbClr val="2B4CC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03772" y="123825"/>
              <a:ext cx="899355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39"/>
                </a:lnSpc>
              </a:pPr>
              <a:r>
                <a:rPr lang="en-US" sz="15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2398552" y="4029434"/>
            <a:ext cx="422361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Final Summary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7071470" y="5808085"/>
            <a:ext cx="1950610" cy="1950610"/>
          </a:xfrm>
          <a:custGeom>
            <a:avLst/>
            <a:gdLst/>
            <a:ahLst/>
            <a:cxnLst/>
            <a:rect r="r" b="b" t="t" l="l"/>
            <a:pathLst>
              <a:path h="1950610" w="1950610">
                <a:moveTo>
                  <a:pt x="0" y="0"/>
                </a:moveTo>
                <a:lnTo>
                  <a:pt x="1950610" y="0"/>
                </a:lnTo>
                <a:lnTo>
                  <a:pt x="1950610" y="1950610"/>
                </a:lnTo>
                <a:lnTo>
                  <a:pt x="0" y="19506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-501207" y="6895791"/>
            <a:ext cx="10844387" cy="922419"/>
            <a:chOff x="0" y="0"/>
            <a:chExt cx="4016440" cy="34163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16440" cy="341637"/>
            </a:xfrm>
            <a:custGeom>
              <a:avLst/>
              <a:gdLst/>
              <a:ahLst/>
              <a:cxnLst/>
              <a:rect r="r" b="b" t="t" l="l"/>
              <a:pathLst>
                <a:path h="341637" w="4016440">
                  <a:moveTo>
                    <a:pt x="25701" y="0"/>
                  </a:moveTo>
                  <a:lnTo>
                    <a:pt x="3990739" y="0"/>
                  </a:lnTo>
                  <a:cubicBezTo>
                    <a:pt x="3997555" y="0"/>
                    <a:pt x="4004092" y="2708"/>
                    <a:pt x="4008912" y="7528"/>
                  </a:cubicBezTo>
                  <a:cubicBezTo>
                    <a:pt x="4013732" y="12347"/>
                    <a:pt x="4016440" y="18885"/>
                    <a:pt x="4016440" y="25701"/>
                  </a:cubicBezTo>
                  <a:lnTo>
                    <a:pt x="4016440" y="315936"/>
                  </a:lnTo>
                  <a:cubicBezTo>
                    <a:pt x="4016440" y="322752"/>
                    <a:pt x="4013732" y="329289"/>
                    <a:pt x="4008912" y="334109"/>
                  </a:cubicBezTo>
                  <a:cubicBezTo>
                    <a:pt x="4004092" y="338929"/>
                    <a:pt x="3997555" y="341637"/>
                    <a:pt x="3990739" y="341637"/>
                  </a:cubicBezTo>
                  <a:lnTo>
                    <a:pt x="25701" y="341637"/>
                  </a:lnTo>
                  <a:cubicBezTo>
                    <a:pt x="18885" y="341637"/>
                    <a:pt x="12347" y="338929"/>
                    <a:pt x="7528" y="334109"/>
                  </a:cubicBezTo>
                  <a:cubicBezTo>
                    <a:pt x="2708" y="329289"/>
                    <a:pt x="0" y="322752"/>
                    <a:pt x="0" y="315936"/>
                  </a:cubicBezTo>
                  <a:lnTo>
                    <a:pt x="0" y="25701"/>
                  </a:lnTo>
                  <a:cubicBezTo>
                    <a:pt x="0" y="18885"/>
                    <a:pt x="2708" y="12347"/>
                    <a:pt x="7528" y="7528"/>
                  </a:cubicBezTo>
                  <a:cubicBezTo>
                    <a:pt x="12347" y="2708"/>
                    <a:pt x="18885" y="0"/>
                    <a:pt x="25701" y="0"/>
                  </a:cubicBezTo>
                  <a:close/>
                </a:path>
              </a:pathLst>
            </a:custGeom>
            <a:solidFill>
              <a:srgbClr val="2B4CC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47625"/>
              <a:ext cx="4016440" cy="294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3086100"/>
            <a:ext cx="8290560" cy="2450788"/>
            <a:chOff x="0" y="0"/>
            <a:chExt cx="3070578" cy="9076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70578" cy="907699"/>
            </a:xfrm>
            <a:custGeom>
              <a:avLst/>
              <a:gdLst/>
              <a:ahLst/>
              <a:cxnLst/>
              <a:rect r="r" b="b" t="t" l="l"/>
              <a:pathLst>
                <a:path h="907699" w="3070578">
                  <a:moveTo>
                    <a:pt x="33618" y="0"/>
                  </a:moveTo>
                  <a:lnTo>
                    <a:pt x="3036960" y="0"/>
                  </a:lnTo>
                  <a:cubicBezTo>
                    <a:pt x="3045876" y="0"/>
                    <a:pt x="3054427" y="3542"/>
                    <a:pt x="3060731" y="9846"/>
                  </a:cubicBezTo>
                  <a:cubicBezTo>
                    <a:pt x="3067036" y="16151"/>
                    <a:pt x="3070578" y="24702"/>
                    <a:pt x="3070578" y="33618"/>
                  </a:cubicBezTo>
                  <a:lnTo>
                    <a:pt x="3070578" y="874082"/>
                  </a:lnTo>
                  <a:cubicBezTo>
                    <a:pt x="3070578" y="882998"/>
                    <a:pt x="3067036" y="891548"/>
                    <a:pt x="3060731" y="897853"/>
                  </a:cubicBezTo>
                  <a:cubicBezTo>
                    <a:pt x="3054427" y="904158"/>
                    <a:pt x="3045876" y="907699"/>
                    <a:pt x="3036960" y="907699"/>
                  </a:cubicBezTo>
                  <a:lnTo>
                    <a:pt x="33618" y="907699"/>
                  </a:lnTo>
                  <a:cubicBezTo>
                    <a:pt x="24702" y="907699"/>
                    <a:pt x="16151" y="904158"/>
                    <a:pt x="9846" y="897853"/>
                  </a:cubicBezTo>
                  <a:cubicBezTo>
                    <a:pt x="3542" y="891548"/>
                    <a:pt x="0" y="882998"/>
                    <a:pt x="0" y="874082"/>
                  </a:cubicBezTo>
                  <a:lnTo>
                    <a:pt x="0" y="33618"/>
                  </a:lnTo>
                  <a:cubicBezTo>
                    <a:pt x="0" y="24702"/>
                    <a:pt x="3542" y="16151"/>
                    <a:pt x="9846" y="9846"/>
                  </a:cubicBezTo>
                  <a:cubicBezTo>
                    <a:pt x="16151" y="3542"/>
                    <a:pt x="24702" y="0"/>
                    <a:pt x="33618" y="0"/>
                  </a:cubicBezTo>
                  <a:close/>
                </a:path>
              </a:pathLst>
            </a:custGeom>
            <a:solidFill>
              <a:srgbClr val="2B4CC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3070578" cy="8600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97577" y="1083945"/>
            <a:ext cx="6761231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80"/>
              </a:lnSpc>
            </a:pPr>
            <a:r>
              <a:rPr lang="en-US" sz="4200">
                <a:solidFill>
                  <a:srgbClr val="1F3685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PROJECT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7577" y="2312729"/>
            <a:ext cx="5415671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9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Purpose of Project: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7577" y="3266841"/>
            <a:ext cx="3380616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Multi-region e-commerce platform on Azure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71338" y="3266841"/>
            <a:ext cx="3014376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High availability and low latency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71338" y="4061583"/>
            <a:ext cx="3184362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Global entry with Azure Front Door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7577" y="4085515"/>
            <a:ext cx="3380616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Hub &amp; Spoke architecture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178859" y="2886075"/>
            <a:ext cx="906780" cy="906780"/>
          </a:xfrm>
          <a:custGeom>
            <a:avLst/>
            <a:gdLst/>
            <a:ahLst/>
            <a:cxnLst/>
            <a:rect r="r" b="b" t="t" l="l"/>
            <a:pathLst>
              <a:path h="906780" w="906780">
                <a:moveTo>
                  <a:pt x="0" y="0"/>
                </a:moveTo>
                <a:lnTo>
                  <a:pt x="906781" y="0"/>
                </a:lnTo>
                <a:lnTo>
                  <a:pt x="906781" y="906780"/>
                </a:lnTo>
                <a:lnTo>
                  <a:pt x="0" y="906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1623060" y="731520"/>
            <a:ext cx="2354580" cy="23545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FE9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26058" y="4877995"/>
            <a:ext cx="829056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Secure private application and data access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979680" y="1835665"/>
            <a:ext cx="4169090" cy="834210"/>
          </a:xfrm>
          <a:custGeom>
            <a:avLst/>
            <a:gdLst/>
            <a:ahLst/>
            <a:cxnLst/>
            <a:rect r="r" b="b" t="t" l="l"/>
            <a:pathLst>
              <a:path h="834210" w="4169090">
                <a:moveTo>
                  <a:pt x="0" y="0"/>
                </a:moveTo>
                <a:lnTo>
                  <a:pt x="4169090" y="0"/>
                </a:lnTo>
                <a:lnTo>
                  <a:pt x="4169090" y="834210"/>
                </a:lnTo>
                <a:lnTo>
                  <a:pt x="0" y="834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6014" t="0" r="-67935" b="-27695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692895"/>
            <a:ext cx="9665037" cy="5929411"/>
            <a:chOff x="0" y="0"/>
            <a:chExt cx="710468" cy="4358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10468" cy="435865"/>
            </a:xfrm>
            <a:custGeom>
              <a:avLst/>
              <a:gdLst/>
              <a:ahLst/>
              <a:cxnLst/>
              <a:rect r="r" b="b" t="t" l="l"/>
              <a:pathLst>
                <a:path h="435865" w="710468">
                  <a:moveTo>
                    <a:pt x="32041" y="0"/>
                  </a:moveTo>
                  <a:lnTo>
                    <a:pt x="678427" y="0"/>
                  </a:lnTo>
                  <a:cubicBezTo>
                    <a:pt x="696123" y="0"/>
                    <a:pt x="710468" y="14345"/>
                    <a:pt x="710468" y="32041"/>
                  </a:cubicBezTo>
                  <a:lnTo>
                    <a:pt x="710468" y="403825"/>
                  </a:lnTo>
                  <a:cubicBezTo>
                    <a:pt x="710468" y="421520"/>
                    <a:pt x="696123" y="435865"/>
                    <a:pt x="678427" y="435865"/>
                  </a:cubicBezTo>
                  <a:lnTo>
                    <a:pt x="32041" y="435865"/>
                  </a:lnTo>
                  <a:cubicBezTo>
                    <a:pt x="14345" y="435865"/>
                    <a:pt x="0" y="421520"/>
                    <a:pt x="0" y="403825"/>
                  </a:cubicBezTo>
                  <a:lnTo>
                    <a:pt x="0" y="32041"/>
                  </a:lnTo>
                  <a:cubicBezTo>
                    <a:pt x="0" y="14345"/>
                    <a:pt x="14345" y="0"/>
                    <a:pt x="32041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160" r="0" b="-216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521970" y="550579"/>
            <a:ext cx="6468105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80"/>
              </a:lnSpc>
            </a:pPr>
            <a:r>
              <a:rPr lang="en-US" sz="4200">
                <a:solidFill>
                  <a:srgbClr val="1F3685"/>
                </a:solidFill>
                <a:latin typeface="Archivo Black"/>
                <a:ea typeface="Archivo Black"/>
                <a:cs typeface="Archivo Black"/>
                <a:sym typeface="Archivo Black"/>
              </a:rPr>
              <a:t>ARCHITECTURE OVERVIEW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902914" y="-1221875"/>
            <a:ext cx="2780198" cy="278019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FE9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012280" y="690519"/>
            <a:ext cx="1009800" cy="1009800"/>
          </a:xfrm>
          <a:custGeom>
            <a:avLst/>
            <a:gdLst/>
            <a:ahLst/>
            <a:cxnLst/>
            <a:rect r="r" b="b" t="t" l="l"/>
            <a:pathLst>
              <a:path h="1009800" w="1009800">
                <a:moveTo>
                  <a:pt x="0" y="0"/>
                </a:moveTo>
                <a:lnTo>
                  <a:pt x="1009800" y="0"/>
                </a:lnTo>
                <a:lnTo>
                  <a:pt x="1009800" y="1009801"/>
                </a:lnTo>
                <a:lnTo>
                  <a:pt x="0" y="10098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0" y="6920028"/>
            <a:ext cx="9753600" cy="898183"/>
            <a:chOff x="0" y="0"/>
            <a:chExt cx="3612444" cy="3326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12445" cy="332660"/>
            </a:xfrm>
            <a:custGeom>
              <a:avLst/>
              <a:gdLst/>
              <a:ahLst/>
              <a:cxnLst/>
              <a:rect r="r" b="b" t="t" l="l"/>
              <a:pathLst>
                <a:path h="332660" w="3612445">
                  <a:moveTo>
                    <a:pt x="79375" y="0"/>
                  </a:moveTo>
                  <a:lnTo>
                    <a:pt x="3533070" y="0"/>
                  </a:lnTo>
                  <a:cubicBezTo>
                    <a:pt x="3554121" y="0"/>
                    <a:pt x="3574311" y="8363"/>
                    <a:pt x="3589196" y="23248"/>
                  </a:cubicBezTo>
                  <a:cubicBezTo>
                    <a:pt x="3604082" y="38134"/>
                    <a:pt x="3612445" y="58323"/>
                    <a:pt x="3612445" y="79375"/>
                  </a:cubicBezTo>
                  <a:lnTo>
                    <a:pt x="3612445" y="253285"/>
                  </a:lnTo>
                  <a:cubicBezTo>
                    <a:pt x="3612445" y="274337"/>
                    <a:pt x="3604082" y="294526"/>
                    <a:pt x="3589196" y="309412"/>
                  </a:cubicBezTo>
                  <a:cubicBezTo>
                    <a:pt x="3574311" y="324298"/>
                    <a:pt x="3554121" y="332660"/>
                    <a:pt x="3533070" y="332660"/>
                  </a:cubicBezTo>
                  <a:lnTo>
                    <a:pt x="79375" y="332660"/>
                  </a:lnTo>
                  <a:cubicBezTo>
                    <a:pt x="35537" y="332660"/>
                    <a:pt x="0" y="297123"/>
                    <a:pt x="0" y="253285"/>
                  </a:cubicBezTo>
                  <a:lnTo>
                    <a:pt x="0" y="79375"/>
                  </a:lnTo>
                  <a:cubicBezTo>
                    <a:pt x="0" y="35537"/>
                    <a:pt x="35537" y="0"/>
                    <a:pt x="79375" y="0"/>
                  </a:cubicBezTo>
                  <a:close/>
                </a:path>
              </a:pathLst>
            </a:custGeom>
            <a:solidFill>
              <a:srgbClr val="DFE9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47625"/>
              <a:ext cx="3612444" cy="2850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71470" y="5808085"/>
            <a:ext cx="1950610" cy="1950610"/>
          </a:xfrm>
          <a:custGeom>
            <a:avLst/>
            <a:gdLst/>
            <a:ahLst/>
            <a:cxnLst/>
            <a:rect r="r" b="b" t="t" l="l"/>
            <a:pathLst>
              <a:path h="1950610" w="1950610">
                <a:moveTo>
                  <a:pt x="0" y="0"/>
                </a:moveTo>
                <a:lnTo>
                  <a:pt x="1950610" y="0"/>
                </a:lnTo>
                <a:lnTo>
                  <a:pt x="1950610" y="1950610"/>
                </a:lnTo>
                <a:lnTo>
                  <a:pt x="0" y="1950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01207" y="6895791"/>
            <a:ext cx="10844387" cy="922419"/>
            <a:chOff x="0" y="0"/>
            <a:chExt cx="4016440" cy="3416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16440" cy="341637"/>
            </a:xfrm>
            <a:custGeom>
              <a:avLst/>
              <a:gdLst/>
              <a:ahLst/>
              <a:cxnLst/>
              <a:rect r="r" b="b" t="t" l="l"/>
              <a:pathLst>
                <a:path h="341637" w="4016440">
                  <a:moveTo>
                    <a:pt x="25701" y="0"/>
                  </a:moveTo>
                  <a:lnTo>
                    <a:pt x="3990739" y="0"/>
                  </a:lnTo>
                  <a:cubicBezTo>
                    <a:pt x="3997555" y="0"/>
                    <a:pt x="4004092" y="2708"/>
                    <a:pt x="4008912" y="7528"/>
                  </a:cubicBezTo>
                  <a:cubicBezTo>
                    <a:pt x="4013732" y="12347"/>
                    <a:pt x="4016440" y="18885"/>
                    <a:pt x="4016440" y="25701"/>
                  </a:cubicBezTo>
                  <a:lnTo>
                    <a:pt x="4016440" y="315936"/>
                  </a:lnTo>
                  <a:cubicBezTo>
                    <a:pt x="4016440" y="322752"/>
                    <a:pt x="4013732" y="329289"/>
                    <a:pt x="4008912" y="334109"/>
                  </a:cubicBezTo>
                  <a:cubicBezTo>
                    <a:pt x="4004092" y="338929"/>
                    <a:pt x="3997555" y="341637"/>
                    <a:pt x="3990739" y="341637"/>
                  </a:cubicBezTo>
                  <a:lnTo>
                    <a:pt x="25701" y="341637"/>
                  </a:lnTo>
                  <a:cubicBezTo>
                    <a:pt x="18885" y="341637"/>
                    <a:pt x="12347" y="338929"/>
                    <a:pt x="7528" y="334109"/>
                  </a:cubicBezTo>
                  <a:cubicBezTo>
                    <a:pt x="2708" y="329289"/>
                    <a:pt x="0" y="322752"/>
                    <a:pt x="0" y="315936"/>
                  </a:cubicBezTo>
                  <a:lnTo>
                    <a:pt x="0" y="25701"/>
                  </a:lnTo>
                  <a:cubicBezTo>
                    <a:pt x="0" y="18885"/>
                    <a:pt x="2708" y="12347"/>
                    <a:pt x="7528" y="7528"/>
                  </a:cubicBezTo>
                  <a:cubicBezTo>
                    <a:pt x="12347" y="2708"/>
                    <a:pt x="18885" y="0"/>
                    <a:pt x="25701" y="0"/>
                  </a:cubicBezTo>
                  <a:close/>
                </a:path>
              </a:pathLst>
            </a:custGeom>
            <a:solidFill>
              <a:srgbClr val="2B4CC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4016440" cy="294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446445" y="4089271"/>
            <a:ext cx="892890" cy="892890"/>
          </a:xfrm>
          <a:custGeom>
            <a:avLst/>
            <a:gdLst/>
            <a:ahLst/>
            <a:cxnLst/>
            <a:rect r="r" b="b" t="t" l="l"/>
            <a:pathLst>
              <a:path h="892890" w="892890">
                <a:moveTo>
                  <a:pt x="0" y="0"/>
                </a:moveTo>
                <a:lnTo>
                  <a:pt x="892890" y="0"/>
                </a:lnTo>
                <a:lnTo>
                  <a:pt x="892890" y="892889"/>
                </a:lnTo>
                <a:lnTo>
                  <a:pt x="0" y="892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490107" y="-447626"/>
            <a:ext cx="1735406" cy="173540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FE9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25355" y="405680"/>
            <a:ext cx="8146715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80"/>
              </a:lnSpc>
            </a:pPr>
            <a:r>
              <a:rPr lang="en-US" sz="4200">
                <a:solidFill>
                  <a:srgbClr val="1F3685"/>
                </a:solidFill>
                <a:latin typeface="Archivo Black"/>
                <a:ea typeface="Archivo Black"/>
                <a:cs typeface="Archivo Black"/>
                <a:sym typeface="Archivo Black"/>
              </a:rPr>
              <a:t>PACKET WALK-THROUGH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385275" y="1958317"/>
            <a:ext cx="2184406" cy="379548"/>
            <a:chOff x="0" y="0"/>
            <a:chExt cx="2338947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38947" cy="406400"/>
            </a:xfrm>
            <a:custGeom>
              <a:avLst/>
              <a:gdLst/>
              <a:ahLst/>
              <a:cxnLst/>
              <a:rect r="r" b="b" t="t" l="l"/>
              <a:pathLst>
                <a:path h="406400" w="2338947">
                  <a:moveTo>
                    <a:pt x="0" y="0"/>
                  </a:moveTo>
                  <a:lnTo>
                    <a:pt x="2135747" y="0"/>
                  </a:lnTo>
                  <a:lnTo>
                    <a:pt x="2338947" y="203200"/>
                  </a:lnTo>
                  <a:lnTo>
                    <a:pt x="2135747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4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77800" y="-9525"/>
              <a:ext cx="2084947" cy="415925"/>
            </a:xfrm>
            <a:prstGeom prst="rect">
              <a:avLst/>
            </a:prstGeom>
          </p:spPr>
          <p:txBody>
            <a:bodyPr anchor="ctr" rtlCol="false" tIns="30240" lIns="30240" bIns="30240" rIns="30240"/>
            <a:lstStyle/>
            <a:p>
              <a:pPr algn="ctr">
                <a:lnSpc>
                  <a:spcPts val="1583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34215" y="1958317"/>
            <a:ext cx="2184406" cy="379548"/>
            <a:chOff x="0" y="0"/>
            <a:chExt cx="2338947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38947" cy="406400"/>
            </a:xfrm>
            <a:custGeom>
              <a:avLst/>
              <a:gdLst/>
              <a:ahLst/>
              <a:cxnLst/>
              <a:rect r="r" b="b" t="t" l="l"/>
              <a:pathLst>
                <a:path h="406400" w="2338947">
                  <a:moveTo>
                    <a:pt x="0" y="0"/>
                  </a:moveTo>
                  <a:lnTo>
                    <a:pt x="2135747" y="0"/>
                  </a:lnTo>
                  <a:lnTo>
                    <a:pt x="2338947" y="203200"/>
                  </a:lnTo>
                  <a:lnTo>
                    <a:pt x="2135747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2D34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77800" y="-9525"/>
              <a:ext cx="2084947" cy="415925"/>
            </a:xfrm>
            <a:prstGeom prst="rect">
              <a:avLst/>
            </a:prstGeom>
          </p:spPr>
          <p:txBody>
            <a:bodyPr anchor="ctr" rtlCol="false" tIns="30240" lIns="30240" bIns="30240" rIns="30240"/>
            <a:lstStyle/>
            <a:p>
              <a:pPr algn="ctr">
                <a:lnSpc>
                  <a:spcPts val="1583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406268" y="3701010"/>
            <a:ext cx="2163413" cy="379548"/>
            <a:chOff x="0" y="0"/>
            <a:chExt cx="2316469" cy="406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16468" cy="406400"/>
            </a:xfrm>
            <a:custGeom>
              <a:avLst/>
              <a:gdLst/>
              <a:ahLst/>
              <a:cxnLst/>
              <a:rect r="r" b="b" t="t" l="l"/>
              <a:pathLst>
                <a:path h="406400" w="2316468">
                  <a:moveTo>
                    <a:pt x="0" y="0"/>
                  </a:moveTo>
                  <a:lnTo>
                    <a:pt x="2113268" y="0"/>
                  </a:lnTo>
                  <a:lnTo>
                    <a:pt x="2316468" y="203200"/>
                  </a:lnTo>
                  <a:lnTo>
                    <a:pt x="2113268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BD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77800" y="-9525"/>
              <a:ext cx="2062469" cy="415925"/>
            </a:xfrm>
            <a:prstGeom prst="rect">
              <a:avLst/>
            </a:prstGeom>
          </p:spPr>
          <p:txBody>
            <a:bodyPr anchor="ctr" rtlCol="false" tIns="30240" lIns="30240" bIns="30240" rIns="30240"/>
            <a:lstStyle/>
            <a:p>
              <a:pPr algn="ctr">
                <a:lnSpc>
                  <a:spcPts val="1583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434215" y="3679253"/>
            <a:ext cx="2184406" cy="379548"/>
            <a:chOff x="0" y="0"/>
            <a:chExt cx="2338947" cy="406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38947" cy="406400"/>
            </a:xfrm>
            <a:custGeom>
              <a:avLst/>
              <a:gdLst/>
              <a:ahLst/>
              <a:cxnLst/>
              <a:rect r="r" b="b" t="t" l="l"/>
              <a:pathLst>
                <a:path h="406400" w="2338947">
                  <a:moveTo>
                    <a:pt x="0" y="0"/>
                  </a:moveTo>
                  <a:lnTo>
                    <a:pt x="2135747" y="0"/>
                  </a:lnTo>
                  <a:lnTo>
                    <a:pt x="2338947" y="203200"/>
                  </a:lnTo>
                  <a:lnTo>
                    <a:pt x="2135747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9CE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77800" y="-9525"/>
              <a:ext cx="2084947" cy="415925"/>
            </a:xfrm>
            <a:prstGeom prst="rect">
              <a:avLst/>
            </a:prstGeom>
          </p:spPr>
          <p:txBody>
            <a:bodyPr anchor="ctr" rtlCol="false" tIns="30240" lIns="30240" bIns="30240" rIns="30240"/>
            <a:lstStyle/>
            <a:p>
              <a:pPr algn="ctr">
                <a:lnSpc>
                  <a:spcPts val="1583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712651" y="1987702"/>
            <a:ext cx="1529653" cy="30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1"/>
              </a:lnSpc>
            </a:pPr>
            <a:r>
              <a:rPr lang="en-US" b="true" sz="1893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761592" y="2012639"/>
            <a:ext cx="1529653" cy="30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1"/>
              </a:lnSpc>
            </a:pPr>
            <a:r>
              <a:rPr lang="en-US" b="true" sz="1893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30498" y="3730395"/>
            <a:ext cx="1514952" cy="30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1"/>
              </a:lnSpc>
            </a:pPr>
            <a:r>
              <a:rPr lang="en-US" b="true" sz="189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761592" y="3708638"/>
            <a:ext cx="1529653" cy="30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1"/>
              </a:lnSpc>
            </a:pPr>
            <a:r>
              <a:rPr lang="en-US" b="true" sz="189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359989" y="2613897"/>
            <a:ext cx="2209692" cy="74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14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User</a:t>
            </a:r>
            <a:r>
              <a:rPr lang="en-US" b="true" sz="214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→ Azure front Door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997459" y="2613897"/>
            <a:ext cx="2896153" cy="74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14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</a:t>
            </a:r>
            <a:r>
              <a:rPr lang="en-US" b="true" sz="214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ront door → primary region &amp; app gw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48606" y="4335026"/>
            <a:ext cx="3128194" cy="111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14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App Service (Private Access) &amp; Data Access (Azure SQL)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997459" y="4335026"/>
            <a:ext cx="3057918" cy="74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14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Geo-Repl</a:t>
            </a:r>
            <a:r>
              <a:rPr lang="en-US" b="true" sz="2143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ication &amp; Response Path Back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941580" y="1249734"/>
            <a:ext cx="4169090" cy="834210"/>
          </a:xfrm>
          <a:custGeom>
            <a:avLst/>
            <a:gdLst/>
            <a:ahLst/>
            <a:cxnLst/>
            <a:rect r="r" b="b" t="t" l="l"/>
            <a:pathLst>
              <a:path h="834210" w="4169090">
                <a:moveTo>
                  <a:pt x="0" y="0"/>
                </a:moveTo>
                <a:lnTo>
                  <a:pt x="4169090" y="0"/>
                </a:lnTo>
                <a:lnTo>
                  <a:pt x="4169090" y="834210"/>
                </a:lnTo>
                <a:lnTo>
                  <a:pt x="0" y="834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6014" t="0" r="-67935" b="-27695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53607" y="6962442"/>
            <a:ext cx="10844387" cy="703368"/>
            <a:chOff x="0" y="0"/>
            <a:chExt cx="4016440" cy="2605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16440" cy="260507"/>
            </a:xfrm>
            <a:custGeom>
              <a:avLst/>
              <a:gdLst/>
              <a:ahLst/>
              <a:cxnLst/>
              <a:rect r="r" b="b" t="t" l="l"/>
              <a:pathLst>
                <a:path h="260507" w="4016440">
                  <a:moveTo>
                    <a:pt x="25701" y="0"/>
                  </a:moveTo>
                  <a:lnTo>
                    <a:pt x="3990739" y="0"/>
                  </a:lnTo>
                  <a:cubicBezTo>
                    <a:pt x="3997555" y="0"/>
                    <a:pt x="4004092" y="2708"/>
                    <a:pt x="4008912" y="7528"/>
                  </a:cubicBezTo>
                  <a:cubicBezTo>
                    <a:pt x="4013732" y="12347"/>
                    <a:pt x="4016440" y="18885"/>
                    <a:pt x="4016440" y="25701"/>
                  </a:cubicBezTo>
                  <a:lnTo>
                    <a:pt x="4016440" y="234806"/>
                  </a:lnTo>
                  <a:cubicBezTo>
                    <a:pt x="4016440" y="241622"/>
                    <a:pt x="4013732" y="248159"/>
                    <a:pt x="4008912" y="252979"/>
                  </a:cubicBezTo>
                  <a:cubicBezTo>
                    <a:pt x="4004092" y="257799"/>
                    <a:pt x="3997555" y="260507"/>
                    <a:pt x="3990739" y="260507"/>
                  </a:cubicBezTo>
                  <a:lnTo>
                    <a:pt x="25701" y="260507"/>
                  </a:lnTo>
                  <a:cubicBezTo>
                    <a:pt x="11507" y="260507"/>
                    <a:pt x="0" y="249000"/>
                    <a:pt x="0" y="234806"/>
                  </a:cubicBezTo>
                  <a:lnTo>
                    <a:pt x="0" y="25701"/>
                  </a:lnTo>
                  <a:cubicBezTo>
                    <a:pt x="0" y="18885"/>
                    <a:pt x="2708" y="12347"/>
                    <a:pt x="7528" y="7528"/>
                  </a:cubicBezTo>
                  <a:cubicBezTo>
                    <a:pt x="12347" y="2708"/>
                    <a:pt x="18885" y="0"/>
                    <a:pt x="25701" y="0"/>
                  </a:cubicBezTo>
                  <a:close/>
                </a:path>
              </a:pathLst>
            </a:custGeom>
            <a:solidFill>
              <a:srgbClr val="1F368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4016440" cy="2128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631981" y="-658579"/>
            <a:ext cx="2780198" cy="278019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FE9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631981" y="1182525"/>
            <a:ext cx="906780" cy="906780"/>
          </a:xfrm>
          <a:custGeom>
            <a:avLst/>
            <a:gdLst/>
            <a:ahLst/>
            <a:cxnLst/>
            <a:rect r="r" b="b" t="t" l="l"/>
            <a:pathLst>
              <a:path h="906780" w="906780">
                <a:moveTo>
                  <a:pt x="0" y="0"/>
                </a:moveTo>
                <a:lnTo>
                  <a:pt x="906780" y="0"/>
                </a:lnTo>
                <a:lnTo>
                  <a:pt x="906780" y="906780"/>
                </a:lnTo>
                <a:lnTo>
                  <a:pt x="0" y="9067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62956" y="817245"/>
            <a:ext cx="6468105" cy="760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</a:pPr>
            <a:r>
              <a:rPr lang="en-US" sz="3200">
                <a:solidFill>
                  <a:srgbClr val="1F3685"/>
                </a:solidFill>
                <a:latin typeface="Archivo Black"/>
                <a:ea typeface="Archivo Black"/>
                <a:cs typeface="Archivo Black"/>
                <a:sym typeface="Archivo Black"/>
              </a:rPr>
              <a:t>STEP 1: USER → AZURE FRONT DOOR</a:t>
            </a:r>
          </a:p>
        </p:txBody>
      </p:sp>
      <p:sp>
        <p:nvSpPr>
          <p:cNvPr name="AutoShape 11" id="11"/>
          <p:cNvSpPr/>
          <p:nvPr/>
        </p:nvSpPr>
        <p:spPr>
          <a:xfrm>
            <a:off x="827196" y="3263993"/>
            <a:ext cx="8194866" cy="13839"/>
          </a:xfrm>
          <a:prstGeom prst="line">
            <a:avLst/>
          </a:prstGeom>
          <a:ln cap="flat" w="19050">
            <a:solidFill>
              <a:srgbClr val="B4B4B4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451133" y="3111767"/>
            <a:ext cx="332129" cy="33212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4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30057" lIns="30057" bIns="30057" rIns="30057"/>
            <a:lstStyle/>
            <a:p>
              <a:pPr algn="ctr">
                <a:lnSpc>
                  <a:spcPts val="157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491893" y="3111767"/>
            <a:ext cx="332129" cy="33212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34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30057" lIns="30057" bIns="30057" rIns="30057"/>
            <a:lstStyle/>
            <a:p>
              <a:pPr algn="ctr">
                <a:lnSpc>
                  <a:spcPts val="1573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532652" y="3111767"/>
            <a:ext cx="332129" cy="332129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D19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30057" lIns="30057" bIns="30057" rIns="30057"/>
            <a:lstStyle/>
            <a:p>
              <a:pPr algn="ctr">
                <a:lnSpc>
                  <a:spcPts val="1573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573412" y="3111767"/>
            <a:ext cx="332129" cy="332129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BD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30057" lIns="30057" bIns="30057" rIns="30057"/>
            <a:lstStyle/>
            <a:p>
              <a:pPr algn="ctr">
                <a:lnSpc>
                  <a:spcPts val="1573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31520" y="3799627"/>
            <a:ext cx="1771355" cy="36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1"/>
              </a:lnSpc>
            </a:pPr>
            <a:r>
              <a:rPr lang="en-US" b="true" sz="1162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User sends HTT</a:t>
            </a:r>
            <a:r>
              <a:rPr lang="en-US" b="true" sz="1162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PS request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72280" y="3799627"/>
            <a:ext cx="1771355" cy="36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1"/>
              </a:lnSpc>
            </a:pPr>
            <a:r>
              <a:rPr lang="en-US" b="true" sz="1162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Request reaches Azure Front Door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4813039" y="3809152"/>
            <a:ext cx="1906057" cy="1205525"/>
            <a:chOff x="0" y="0"/>
            <a:chExt cx="2541410" cy="1607366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370111"/>
              <a:ext cx="2541410" cy="1237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250943" indent="-125472" lvl="1">
                <a:lnSpc>
                  <a:spcPts val="1511"/>
                </a:lnSpc>
                <a:buFont typeface="Arial"/>
                <a:buChar char="•"/>
              </a:pPr>
              <a:r>
                <a:rPr lang="en-US" sz="1162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SSL </a:t>
              </a:r>
              <a:r>
                <a:rPr lang="en-US" sz="1162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termination</a:t>
              </a:r>
            </a:p>
            <a:p>
              <a:pPr algn="just" marL="250943" indent="-125472" lvl="1">
                <a:lnSpc>
                  <a:spcPts val="1511"/>
                </a:lnSpc>
                <a:buFont typeface="Arial"/>
                <a:buChar char="•"/>
              </a:pPr>
              <a:r>
                <a:rPr lang="en-US" sz="1162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WAF inspection (OWASP 3.2)</a:t>
              </a:r>
            </a:p>
            <a:p>
              <a:pPr algn="just" marL="250943" indent="-125472" lvl="1">
                <a:lnSpc>
                  <a:spcPts val="1511"/>
                </a:lnSpc>
                <a:buFont typeface="Arial"/>
                <a:buChar char="•"/>
              </a:pPr>
              <a:r>
                <a:rPr lang="en-US" sz="1162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DDoS protection</a:t>
              </a:r>
            </a:p>
            <a:p>
              <a:pPr algn="just" marL="250943" indent="-125472" lvl="1">
                <a:lnSpc>
                  <a:spcPts val="1511"/>
                </a:lnSpc>
                <a:buFont typeface="Arial"/>
                <a:buChar char="•"/>
              </a:pPr>
              <a:r>
                <a:rPr lang="en-US" sz="1162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Health probe check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-9525"/>
              <a:ext cx="2541410" cy="238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11"/>
                </a:lnSpc>
              </a:pPr>
              <a:r>
                <a:rPr lang="en-US" b="true" sz="1162">
                  <a:solidFill>
                    <a:srgbClr val="33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Fr</a:t>
              </a:r>
              <a:r>
                <a:rPr lang="en-US" b="true" sz="1162">
                  <a:solidFill>
                    <a:srgbClr val="33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ont Door performs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6853799" y="3799627"/>
            <a:ext cx="1771355" cy="368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1"/>
              </a:lnSpc>
            </a:pPr>
            <a:r>
              <a:rPr lang="en-US" b="true" sz="1162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R</a:t>
            </a:r>
            <a:r>
              <a:rPr lang="en-US" b="true" sz="1162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equest is routed to nearest healthy region</a:t>
            </a:r>
          </a:p>
        </p:txBody>
      </p:sp>
      <p:sp>
        <p:nvSpPr>
          <p:cNvPr name="Freeform 30" id="30"/>
          <p:cNvSpPr/>
          <p:nvPr/>
        </p:nvSpPr>
        <p:spPr>
          <a:xfrm flipH="true" flipV="false" rot="0">
            <a:off x="4982267" y="3242662"/>
            <a:ext cx="7467828" cy="4941441"/>
          </a:xfrm>
          <a:custGeom>
            <a:avLst/>
            <a:gdLst/>
            <a:ahLst/>
            <a:cxnLst/>
            <a:rect r="r" b="b" t="t" l="l"/>
            <a:pathLst>
              <a:path h="4941441" w="7467828">
                <a:moveTo>
                  <a:pt x="7467828" y="0"/>
                </a:moveTo>
                <a:lnTo>
                  <a:pt x="0" y="0"/>
                </a:lnTo>
                <a:lnTo>
                  <a:pt x="0" y="4941441"/>
                </a:lnTo>
                <a:lnTo>
                  <a:pt x="7467828" y="4941441"/>
                </a:lnTo>
                <a:lnTo>
                  <a:pt x="746782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5350717" y="3479423"/>
            <a:ext cx="7467828" cy="4941441"/>
          </a:xfrm>
          <a:custGeom>
            <a:avLst/>
            <a:gdLst/>
            <a:ahLst/>
            <a:cxnLst/>
            <a:rect r="r" b="b" t="t" l="l"/>
            <a:pathLst>
              <a:path h="4941441" w="7467828">
                <a:moveTo>
                  <a:pt x="7467828" y="0"/>
                </a:moveTo>
                <a:lnTo>
                  <a:pt x="0" y="0"/>
                </a:lnTo>
                <a:lnTo>
                  <a:pt x="0" y="4941441"/>
                </a:lnTo>
                <a:lnTo>
                  <a:pt x="7467828" y="4941441"/>
                </a:lnTo>
                <a:lnTo>
                  <a:pt x="74678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2907" y="1487343"/>
            <a:ext cx="1025814" cy="1025814"/>
          </a:xfrm>
          <a:custGeom>
            <a:avLst/>
            <a:gdLst/>
            <a:ahLst/>
            <a:cxnLst/>
            <a:rect r="r" b="b" t="t" l="l"/>
            <a:pathLst>
              <a:path h="1025814" w="1025814">
                <a:moveTo>
                  <a:pt x="0" y="0"/>
                </a:moveTo>
                <a:lnTo>
                  <a:pt x="1025814" y="0"/>
                </a:lnTo>
                <a:lnTo>
                  <a:pt x="1025814" y="1025814"/>
                </a:lnTo>
                <a:lnTo>
                  <a:pt x="0" y="10258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852376" y="5747660"/>
            <a:ext cx="1085820" cy="108582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FE9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61492" y="817245"/>
            <a:ext cx="7830616" cy="760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0"/>
              </a:lnSpc>
            </a:pPr>
            <a:r>
              <a:rPr lang="en-US" sz="3200">
                <a:solidFill>
                  <a:srgbClr val="1F3685"/>
                </a:solidFill>
                <a:latin typeface="Archivo Black"/>
                <a:ea typeface="Archivo Black"/>
                <a:cs typeface="Archivo Black"/>
                <a:sym typeface="Archivo Black"/>
              </a:rPr>
              <a:t>STEP 2: FRONT DOOR → PRIMARY REGION &amp; APP GW</a:t>
            </a:r>
          </a:p>
        </p:txBody>
      </p:sp>
      <p:sp>
        <p:nvSpPr>
          <p:cNvPr name="AutoShape 8" id="8"/>
          <p:cNvSpPr/>
          <p:nvPr/>
        </p:nvSpPr>
        <p:spPr>
          <a:xfrm>
            <a:off x="1412101" y="3013978"/>
            <a:ext cx="7043129" cy="16455"/>
          </a:xfrm>
          <a:prstGeom prst="line">
            <a:avLst/>
          </a:prstGeom>
          <a:ln cap="flat" w="28575">
            <a:solidFill>
              <a:srgbClr val="B4B4B4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2154001" y="2832972"/>
            <a:ext cx="394922" cy="39492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4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30057" lIns="30057" bIns="30057" rIns="30057"/>
            <a:lstStyle/>
            <a:p>
              <a:pPr algn="ctr">
                <a:lnSpc>
                  <a:spcPts val="157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580592" y="2832972"/>
            <a:ext cx="394922" cy="39492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34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30057" lIns="30057" bIns="30057" rIns="30057"/>
            <a:lstStyle/>
            <a:p>
              <a:pPr algn="ctr">
                <a:lnSpc>
                  <a:spcPts val="157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007182" y="2832972"/>
            <a:ext cx="394922" cy="39492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D19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30057" lIns="30057" bIns="30057" rIns="30057"/>
            <a:lstStyle/>
            <a:p>
              <a:pPr algn="ctr">
                <a:lnSpc>
                  <a:spcPts val="1573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98336" y="3652681"/>
            <a:ext cx="2106251" cy="43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6"/>
              </a:lnSpc>
            </a:pPr>
            <a:r>
              <a:rPr lang="en-US" b="true" sz="1382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</a:t>
            </a:r>
            <a:r>
              <a:rPr lang="en-US" b="true" sz="1382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raffic enters selected region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24927" y="3652681"/>
            <a:ext cx="2426591" cy="6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6"/>
              </a:lnSpc>
            </a:pPr>
            <a:r>
              <a:rPr lang="en-US" b="true" sz="1382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</a:t>
            </a:r>
            <a:r>
              <a:rPr lang="en-US" b="true" sz="1382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uest reaches Application Gateway + WAF v2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348979" y="3769760"/>
            <a:ext cx="2106251" cy="1655932"/>
            <a:chOff x="0" y="0"/>
            <a:chExt cx="2808335" cy="2207909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441886"/>
              <a:ext cx="2808335" cy="17660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98387" indent="-149194" lvl="1">
                <a:lnSpc>
                  <a:spcPts val="1796"/>
                </a:lnSpc>
                <a:buFont typeface="Arial"/>
                <a:buChar char="•"/>
              </a:pPr>
              <a:r>
                <a:rPr lang="en-US" sz="1382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Laye</a:t>
              </a:r>
              <a:r>
                <a:rPr lang="en-US" sz="1382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r 7 inspection:</a:t>
              </a:r>
            </a:p>
            <a:p>
              <a:pPr algn="l" marL="298387" indent="-149194" lvl="1">
                <a:lnSpc>
                  <a:spcPts val="1796"/>
                </a:lnSpc>
                <a:buFont typeface="Arial"/>
                <a:buChar char="•"/>
              </a:pPr>
              <a:r>
                <a:rPr lang="en-US" sz="1382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Path-based routing</a:t>
              </a:r>
            </a:p>
            <a:p>
              <a:pPr algn="l" marL="298387" indent="-149194" lvl="1">
                <a:lnSpc>
                  <a:spcPts val="1796"/>
                </a:lnSpc>
                <a:buFont typeface="Arial"/>
                <a:buChar char="•"/>
              </a:pPr>
              <a:r>
                <a:rPr lang="en-US" sz="1382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HTTP header validation</a:t>
              </a:r>
            </a:p>
            <a:p>
              <a:pPr algn="l" marL="298387" indent="-149194" lvl="1">
                <a:lnSpc>
                  <a:spcPts val="1796"/>
                </a:lnSpc>
                <a:buFont typeface="Arial"/>
                <a:buChar char="•"/>
              </a:pPr>
              <a:r>
                <a:rPr lang="en-US" sz="1382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Additional WAF rules</a:t>
              </a:r>
            </a:p>
            <a:p>
              <a:pPr algn="ctr">
                <a:lnSpc>
                  <a:spcPts val="1796"/>
                </a:lnSpc>
              </a:pP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-9525"/>
              <a:ext cx="2808335" cy="2823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96"/>
                </a:lnSpc>
              </a:pPr>
              <a:r>
                <a:rPr lang="en-US" b="true" sz="1382">
                  <a:solidFill>
                    <a:srgbClr val="33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WAF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true" flipV="false" rot="5400000">
            <a:off x="-5262243" y="3304520"/>
            <a:ext cx="9753600" cy="3144561"/>
          </a:xfrm>
          <a:custGeom>
            <a:avLst/>
            <a:gdLst/>
            <a:ahLst/>
            <a:cxnLst/>
            <a:rect r="r" b="b" t="t" l="l"/>
            <a:pathLst>
              <a:path h="3144561" w="9753600">
                <a:moveTo>
                  <a:pt x="9753600" y="0"/>
                </a:moveTo>
                <a:lnTo>
                  <a:pt x="0" y="0"/>
                </a:lnTo>
                <a:lnTo>
                  <a:pt x="0" y="3144560"/>
                </a:lnTo>
                <a:lnTo>
                  <a:pt x="9753600" y="3144560"/>
                </a:lnTo>
                <a:lnTo>
                  <a:pt x="97536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71470" y="5808085"/>
            <a:ext cx="1950610" cy="1950610"/>
          </a:xfrm>
          <a:custGeom>
            <a:avLst/>
            <a:gdLst/>
            <a:ahLst/>
            <a:cxnLst/>
            <a:rect r="r" b="b" t="t" l="l"/>
            <a:pathLst>
              <a:path h="1950610" w="1950610">
                <a:moveTo>
                  <a:pt x="0" y="0"/>
                </a:moveTo>
                <a:lnTo>
                  <a:pt x="1950610" y="0"/>
                </a:lnTo>
                <a:lnTo>
                  <a:pt x="1950610" y="1950610"/>
                </a:lnTo>
                <a:lnTo>
                  <a:pt x="0" y="1950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45299" y="817245"/>
            <a:ext cx="7263001" cy="112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0"/>
              </a:lnSpc>
            </a:pPr>
            <a:r>
              <a:rPr lang="en-US" sz="3200">
                <a:solidFill>
                  <a:srgbClr val="1F3685"/>
                </a:solidFill>
                <a:latin typeface="Archivo Black"/>
                <a:ea typeface="Archivo Black"/>
                <a:cs typeface="Archivo Black"/>
                <a:sym typeface="Archivo Black"/>
              </a:rPr>
              <a:t>STEP 3: APP SERVICE (PRIVATE ACCESS) &amp; DATA ACCESS (AZURE SQL)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501207" y="6895791"/>
            <a:ext cx="10844387" cy="922419"/>
            <a:chOff x="0" y="0"/>
            <a:chExt cx="4016440" cy="3416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16440" cy="341637"/>
            </a:xfrm>
            <a:custGeom>
              <a:avLst/>
              <a:gdLst/>
              <a:ahLst/>
              <a:cxnLst/>
              <a:rect r="r" b="b" t="t" l="l"/>
              <a:pathLst>
                <a:path h="341637" w="4016440">
                  <a:moveTo>
                    <a:pt x="25701" y="0"/>
                  </a:moveTo>
                  <a:lnTo>
                    <a:pt x="3990739" y="0"/>
                  </a:lnTo>
                  <a:cubicBezTo>
                    <a:pt x="3997555" y="0"/>
                    <a:pt x="4004092" y="2708"/>
                    <a:pt x="4008912" y="7528"/>
                  </a:cubicBezTo>
                  <a:cubicBezTo>
                    <a:pt x="4013732" y="12347"/>
                    <a:pt x="4016440" y="18885"/>
                    <a:pt x="4016440" y="25701"/>
                  </a:cubicBezTo>
                  <a:lnTo>
                    <a:pt x="4016440" y="315936"/>
                  </a:lnTo>
                  <a:cubicBezTo>
                    <a:pt x="4016440" y="322752"/>
                    <a:pt x="4013732" y="329289"/>
                    <a:pt x="4008912" y="334109"/>
                  </a:cubicBezTo>
                  <a:cubicBezTo>
                    <a:pt x="4004092" y="338929"/>
                    <a:pt x="3997555" y="341637"/>
                    <a:pt x="3990739" y="341637"/>
                  </a:cubicBezTo>
                  <a:lnTo>
                    <a:pt x="25701" y="341637"/>
                  </a:lnTo>
                  <a:cubicBezTo>
                    <a:pt x="18885" y="341637"/>
                    <a:pt x="12347" y="338929"/>
                    <a:pt x="7528" y="334109"/>
                  </a:cubicBezTo>
                  <a:cubicBezTo>
                    <a:pt x="2708" y="329289"/>
                    <a:pt x="0" y="322752"/>
                    <a:pt x="0" y="315936"/>
                  </a:cubicBezTo>
                  <a:lnTo>
                    <a:pt x="0" y="25701"/>
                  </a:lnTo>
                  <a:cubicBezTo>
                    <a:pt x="0" y="18885"/>
                    <a:pt x="2708" y="12347"/>
                    <a:pt x="7528" y="7528"/>
                  </a:cubicBezTo>
                  <a:cubicBezTo>
                    <a:pt x="12347" y="2708"/>
                    <a:pt x="18885" y="0"/>
                    <a:pt x="25701" y="0"/>
                  </a:cubicBezTo>
                  <a:close/>
                </a:path>
              </a:pathLst>
            </a:custGeom>
            <a:solidFill>
              <a:srgbClr val="2B4CC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4016440" cy="294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490107" y="-447626"/>
            <a:ext cx="1735406" cy="173540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FE9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446445" y="4089271"/>
            <a:ext cx="892890" cy="892890"/>
          </a:xfrm>
          <a:custGeom>
            <a:avLst/>
            <a:gdLst/>
            <a:ahLst/>
            <a:cxnLst/>
            <a:rect r="r" b="b" t="t" l="l"/>
            <a:pathLst>
              <a:path h="892890" w="892890">
                <a:moveTo>
                  <a:pt x="0" y="0"/>
                </a:moveTo>
                <a:lnTo>
                  <a:pt x="892890" y="0"/>
                </a:lnTo>
                <a:lnTo>
                  <a:pt x="892890" y="892889"/>
                </a:lnTo>
                <a:lnTo>
                  <a:pt x="0" y="892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022080" y="1083896"/>
            <a:ext cx="1735406" cy="173540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FE9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704556" y="3305268"/>
            <a:ext cx="8861548" cy="11848"/>
          </a:xfrm>
          <a:prstGeom prst="line">
            <a:avLst/>
          </a:prstGeom>
          <a:ln cap="flat" w="19050">
            <a:solidFill>
              <a:srgbClr val="B4B4B4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238735" y="3174941"/>
            <a:ext cx="284350" cy="28435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4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30057" lIns="30057" bIns="30057" rIns="30057"/>
            <a:lstStyle/>
            <a:p>
              <a:pPr algn="ctr">
                <a:lnSpc>
                  <a:spcPts val="1573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985919" y="3174941"/>
            <a:ext cx="284350" cy="28435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34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30057" lIns="30057" bIns="30057" rIns="30057"/>
            <a:lstStyle/>
            <a:p>
              <a:pPr algn="ctr">
                <a:lnSpc>
                  <a:spcPts val="1573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733102" y="3174941"/>
            <a:ext cx="284350" cy="28435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D19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30057" lIns="30057" bIns="30057" rIns="30057"/>
            <a:lstStyle/>
            <a:p>
              <a:pPr algn="ctr">
                <a:lnSpc>
                  <a:spcPts val="1573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480285" y="3174941"/>
            <a:ext cx="284350" cy="28435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BD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30057" lIns="30057" bIns="30057" rIns="30057"/>
            <a:lstStyle/>
            <a:p>
              <a:pPr algn="ctr">
                <a:lnSpc>
                  <a:spcPts val="1573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227468" y="3174941"/>
            <a:ext cx="284350" cy="284350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9CE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30057" lIns="30057" bIns="30057" rIns="30057"/>
            <a:lstStyle/>
            <a:p>
              <a:pPr algn="ctr">
                <a:lnSpc>
                  <a:spcPts val="1573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22643" y="3762478"/>
            <a:ext cx="1516534" cy="476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214843" indent="-107421" lvl="1">
              <a:lnSpc>
                <a:spcPts val="1293"/>
              </a:lnSpc>
              <a:buFont typeface="Arial"/>
              <a:buChar char="•"/>
            </a:pPr>
            <a:r>
              <a:rPr lang="en-US" b="true" sz="995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 Gat</a:t>
            </a:r>
            <a:r>
              <a:rPr lang="en-US" b="true" sz="995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eway forwards traffic via Private Endpoint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2369827" y="3772003"/>
            <a:ext cx="1516534" cy="871908"/>
            <a:chOff x="0" y="0"/>
            <a:chExt cx="2022045" cy="1162543"/>
          </a:xfrm>
        </p:grpSpPr>
        <p:sp>
          <p:nvSpPr>
            <p:cNvPr name="TextBox 32" id="32"/>
            <p:cNvSpPr txBox="true"/>
            <p:nvPr/>
          </p:nvSpPr>
          <p:spPr>
            <a:xfrm rot="0">
              <a:off x="0" y="315498"/>
              <a:ext cx="2022045" cy="8470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14843" indent="-107422" lvl="1">
                <a:lnSpc>
                  <a:spcPts val="1293"/>
                </a:lnSpc>
                <a:buFont typeface="Arial"/>
                <a:buChar char="•"/>
              </a:pPr>
              <a:r>
                <a:rPr lang="en-US" sz="995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P</a:t>
              </a:r>
              <a:r>
                <a:rPr lang="en-US" sz="995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remium v3</a:t>
              </a:r>
            </a:p>
            <a:p>
              <a:pPr algn="l" marL="214843" indent="-107422" lvl="1">
                <a:lnSpc>
                  <a:spcPts val="1293"/>
                </a:lnSpc>
                <a:buFont typeface="Arial"/>
                <a:buChar char="•"/>
              </a:pPr>
              <a:r>
                <a:rPr lang="en-US" sz="995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Zone-redundant</a:t>
              </a:r>
            </a:p>
            <a:p>
              <a:pPr algn="l" marL="214843" indent="-107422" lvl="1">
                <a:lnSpc>
                  <a:spcPts val="1293"/>
                </a:lnSpc>
                <a:buFont typeface="Arial"/>
                <a:buChar char="•"/>
              </a:pPr>
              <a:r>
                <a:rPr lang="en-US" sz="995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Autoscaling enabled</a:t>
              </a:r>
            </a:p>
            <a:p>
              <a:pPr algn="l">
                <a:lnSpc>
                  <a:spcPts val="1293"/>
                </a:lnSpc>
              </a:pP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-9525"/>
              <a:ext cx="2022045" cy="2059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93"/>
                </a:lnSpc>
              </a:pPr>
              <a:r>
                <a:rPr lang="en-US" b="true" sz="995">
                  <a:solidFill>
                    <a:srgbClr val="33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App S</a:t>
              </a:r>
              <a:r>
                <a:rPr lang="en-US" b="true" sz="995">
                  <a:solidFill>
                    <a:srgbClr val="33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ervice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4117010" y="3762478"/>
            <a:ext cx="1516534" cy="31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3"/>
              </a:lnSpc>
            </a:pPr>
            <a:r>
              <a:rPr lang="en-US" b="true" sz="995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 req</a:t>
            </a:r>
            <a:r>
              <a:rPr lang="en-US" b="true" sz="995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uests data from Azure SQL Database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864193" y="3772003"/>
            <a:ext cx="1516534" cy="551518"/>
            <a:chOff x="0" y="0"/>
            <a:chExt cx="2022045" cy="735358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0" y="315498"/>
              <a:ext cx="2022045" cy="419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14843" indent="-107422" lvl="1">
                <a:lnSpc>
                  <a:spcPts val="1293"/>
                </a:lnSpc>
                <a:buFont typeface="Arial"/>
                <a:buChar char="•"/>
              </a:pPr>
              <a:r>
                <a:rPr lang="en-US" sz="995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P</a:t>
              </a:r>
              <a:r>
                <a:rPr lang="en-US" sz="995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rivate Endpoint</a:t>
              </a:r>
            </a:p>
            <a:p>
              <a:pPr algn="l" marL="214843" indent="-107422" lvl="1">
                <a:lnSpc>
                  <a:spcPts val="1293"/>
                </a:lnSpc>
                <a:buFont typeface="Arial"/>
                <a:buChar char="•"/>
              </a:pPr>
              <a:r>
                <a:rPr lang="en-US" sz="995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Private DNS Zone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-9525"/>
              <a:ext cx="2022045" cy="2059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93"/>
                </a:lnSpc>
              </a:pPr>
              <a:r>
                <a:rPr lang="en-US" b="true" sz="995">
                  <a:solidFill>
                    <a:srgbClr val="33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</a:t>
              </a:r>
              <a:r>
                <a:rPr lang="en-US" b="true" sz="995">
                  <a:solidFill>
                    <a:srgbClr val="33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onnection via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611376" y="3772003"/>
            <a:ext cx="1516534" cy="711713"/>
            <a:chOff x="0" y="0"/>
            <a:chExt cx="2022045" cy="948951"/>
          </a:xfrm>
        </p:grpSpPr>
        <p:sp>
          <p:nvSpPr>
            <p:cNvPr name="TextBox 39" id="39"/>
            <p:cNvSpPr txBox="true"/>
            <p:nvPr/>
          </p:nvSpPr>
          <p:spPr>
            <a:xfrm rot="0">
              <a:off x="0" y="315498"/>
              <a:ext cx="2022045" cy="6334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14843" indent="-107422" lvl="1">
                <a:lnSpc>
                  <a:spcPts val="1293"/>
                </a:lnSpc>
                <a:buFont typeface="Arial"/>
                <a:buChar char="•"/>
              </a:pPr>
              <a:r>
                <a:rPr lang="en-US" sz="995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Ge</a:t>
              </a:r>
              <a:r>
                <a:rPr lang="en-US" sz="995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neral Purpose</a:t>
              </a:r>
            </a:p>
            <a:p>
              <a:pPr algn="l" marL="214843" indent="-107422" lvl="1">
                <a:lnSpc>
                  <a:spcPts val="1293"/>
                </a:lnSpc>
                <a:buFont typeface="Arial"/>
                <a:buChar char="•"/>
              </a:pPr>
              <a:r>
                <a:rPr lang="en-US" sz="995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Gen5 – 4 vCores</a:t>
              </a:r>
            </a:p>
            <a:p>
              <a:pPr algn="l" marL="214843" indent="-107422" lvl="1">
                <a:lnSpc>
                  <a:spcPts val="1293"/>
                </a:lnSpc>
                <a:buFont typeface="Arial"/>
                <a:buChar char="•"/>
              </a:pPr>
              <a:r>
                <a:rPr lang="en-US" sz="995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Zone-redundant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0" y="-9525"/>
              <a:ext cx="2022045" cy="2059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93"/>
                </a:lnSpc>
              </a:pPr>
              <a:r>
                <a:rPr lang="en-US" b="true" sz="995">
                  <a:solidFill>
                    <a:srgbClr val="33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SQL</a:t>
              </a:r>
              <a:r>
                <a:rPr lang="en-US" b="true" sz="995">
                  <a:solidFill>
                    <a:srgbClr val="33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runs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998730" y="4671689"/>
            <a:ext cx="4169090" cy="834210"/>
          </a:xfrm>
          <a:custGeom>
            <a:avLst/>
            <a:gdLst/>
            <a:ahLst/>
            <a:cxnLst/>
            <a:rect r="r" b="b" t="t" l="l"/>
            <a:pathLst>
              <a:path h="834210" w="4169090">
                <a:moveTo>
                  <a:pt x="0" y="0"/>
                </a:moveTo>
                <a:lnTo>
                  <a:pt x="4169090" y="0"/>
                </a:lnTo>
                <a:lnTo>
                  <a:pt x="4169090" y="834210"/>
                </a:lnTo>
                <a:lnTo>
                  <a:pt x="0" y="834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6014" t="0" r="-67935" b="-27695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37419" y="958179"/>
            <a:ext cx="7678763" cy="760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80"/>
              </a:lnSpc>
            </a:pPr>
            <a:r>
              <a:rPr lang="en-US" sz="3200">
                <a:solidFill>
                  <a:srgbClr val="1F3685"/>
                </a:solidFill>
                <a:latin typeface="Archivo Black"/>
                <a:ea typeface="Archivo Black"/>
                <a:cs typeface="Archivo Black"/>
                <a:sym typeface="Archivo Black"/>
              </a:rPr>
              <a:t>STEP 4:  GEO-REPLICATION &amp; RESPONSE PATH BACK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5400000">
            <a:off x="7300925" y="660424"/>
            <a:ext cx="4303392" cy="861083"/>
          </a:xfrm>
          <a:custGeom>
            <a:avLst/>
            <a:gdLst/>
            <a:ahLst/>
            <a:cxnLst/>
            <a:rect r="r" b="b" t="t" l="l"/>
            <a:pathLst>
              <a:path h="861083" w="4303392">
                <a:moveTo>
                  <a:pt x="4303393" y="861083"/>
                </a:moveTo>
                <a:lnTo>
                  <a:pt x="0" y="861083"/>
                </a:lnTo>
                <a:lnTo>
                  <a:pt x="0" y="0"/>
                </a:lnTo>
                <a:lnTo>
                  <a:pt x="4303393" y="0"/>
                </a:lnTo>
                <a:lnTo>
                  <a:pt x="4303393" y="8610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6014" t="0" r="-67935" b="-27695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765847" y="5470098"/>
            <a:ext cx="823373" cy="823373"/>
          </a:xfrm>
          <a:custGeom>
            <a:avLst/>
            <a:gdLst/>
            <a:ahLst/>
            <a:cxnLst/>
            <a:rect r="r" b="b" t="t" l="l"/>
            <a:pathLst>
              <a:path h="823373" w="823373">
                <a:moveTo>
                  <a:pt x="0" y="0"/>
                </a:moveTo>
                <a:lnTo>
                  <a:pt x="823373" y="0"/>
                </a:lnTo>
                <a:lnTo>
                  <a:pt x="823373" y="823373"/>
                </a:lnTo>
                <a:lnTo>
                  <a:pt x="0" y="8233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54441" y="731520"/>
            <a:ext cx="1108881" cy="1108881"/>
          </a:xfrm>
          <a:custGeom>
            <a:avLst/>
            <a:gdLst/>
            <a:ahLst/>
            <a:cxnLst/>
            <a:rect r="r" b="b" t="t" l="l"/>
            <a:pathLst>
              <a:path h="1108881" w="1108881">
                <a:moveTo>
                  <a:pt x="0" y="0"/>
                </a:moveTo>
                <a:lnTo>
                  <a:pt x="1108882" y="0"/>
                </a:lnTo>
                <a:lnTo>
                  <a:pt x="1108882" y="1108881"/>
                </a:lnTo>
                <a:lnTo>
                  <a:pt x="0" y="11088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4982267" y="3242662"/>
            <a:ext cx="7467828" cy="4941441"/>
          </a:xfrm>
          <a:custGeom>
            <a:avLst/>
            <a:gdLst/>
            <a:ahLst/>
            <a:cxnLst/>
            <a:rect r="r" b="b" t="t" l="l"/>
            <a:pathLst>
              <a:path h="4941441" w="7467828">
                <a:moveTo>
                  <a:pt x="7467828" y="0"/>
                </a:moveTo>
                <a:lnTo>
                  <a:pt x="0" y="0"/>
                </a:lnTo>
                <a:lnTo>
                  <a:pt x="0" y="4941441"/>
                </a:lnTo>
                <a:lnTo>
                  <a:pt x="7467828" y="4941441"/>
                </a:lnTo>
                <a:lnTo>
                  <a:pt x="746782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472802" y="3375638"/>
            <a:ext cx="8891560" cy="12089"/>
          </a:xfrm>
          <a:prstGeom prst="line">
            <a:avLst/>
          </a:prstGeom>
          <a:ln cap="flat" w="19050">
            <a:solidFill>
              <a:srgbClr val="B4B4B4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017841" y="3242662"/>
            <a:ext cx="290131" cy="29013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4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30057" lIns="30057" bIns="30057" rIns="30057"/>
            <a:lstStyle/>
            <a:p>
              <a:pPr algn="ctr">
                <a:lnSpc>
                  <a:spcPts val="157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800542" y="3242662"/>
            <a:ext cx="290131" cy="29013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34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30057" lIns="30057" bIns="30057" rIns="30057"/>
            <a:lstStyle/>
            <a:p>
              <a:pPr algn="ctr">
                <a:lnSpc>
                  <a:spcPts val="157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583243" y="3242662"/>
            <a:ext cx="290131" cy="29013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D19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30057" lIns="30057" bIns="30057" rIns="30057"/>
            <a:lstStyle/>
            <a:p>
              <a:pPr algn="ctr">
                <a:lnSpc>
                  <a:spcPts val="1573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365944" y="3242662"/>
            <a:ext cx="290131" cy="290131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BD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30057" lIns="30057" bIns="30057" rIns="30057"/>
            <a:lstStyle/>
            <a:p>
              <a:pPr algn="ctr">
                <a:lnSpc>
                  <a:spcPts val="1573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148645" y="3242662"/>
            <a:ext cx="290131" cy="29013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9CE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30057" lIns="30057" bIns="30057" rIns="30057"/>
            <a:lstStyle/>
            <a:p>
              <a:pPr algn="ctr">
                <a:lnSpc>
                  <a:spcPts val="1573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89225" y="3851861"/>
            <a:ext cx="1547363" cy="889380"/>
            <a:chOff x="0" y="0"/>
            <a:chExt cx="2063151" cy="1185840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530178"/>
              <a:ext cx="2063151" cy="6556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19211" indent="-109605" lvl="1">
                <a:lnSpc>
                  <a:spcPts val="1319"/>
                </a:lnSpc>
                <a:buFont typeface="Arial"/>
                <a:buChar char="•"/>
              </a:pPr>
              <a:r>
                <a:rPr lang="en-US" sz="1015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Disaster recovery</a:t>
              </a:r>
            </a:p>
            <a:p>
              <a:pPr algn="l" marL="219211" indent="-109605" lvl="1">
                <a:lnSpc>
                  <a:spcPts val="1319"/>
                </a:lnSpc>
                <a:buFont typeface="Arial"/>
                <a:buChar char="•"/>
              </a:pPr>
              <a:r>
                <a:rPr lang="en-US" sz="1015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Read workloads (best practice)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-19050"/>
              <a:ext cx="2063151" cy="437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19"/>
                </a:lnSpc>
              </a:pPr>
              <a:r>
                <a:rPr lang="en-US" b="true" sz="1015">
                  <a:solidFill>
                    <a:srgbClr val="33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SQL data </a:t>
              </a:r>
              <a:r>
                <a:rPr lang="en-US" b="true" sz="1015">
                  <a:solidFill>
                    <a:srgbClr val="33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replicated to secondary region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224235" y="3827175"/>
            <a:ext cx="1442744" cy="676377"/>
            <a:chOff x="0" y="0"/>
            <a:chExt cx="1923659" cy="901836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705455"/>
              <a:ext cx="1923659" cy="1963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30"/>
                </a:lnSpc>
              </a:pP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-9525"/>
              <a:ext cx="1923659" cy="6021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30"/>
                </a:lnSpc>
              </a:pPr>
              <a:r>
                <a:rPr lang="en-US" b="true" sz="946">
                  <a:solidFill>
                    <a:srgbClr val="33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Requirements SQL → App Service</a:t>
              </a:r>
            </a:p>
            <a:p>
              <a:pPr algn="ctr">
                <a:lnSpc>
                  <a:spcPts val="1230"/>
                </a:lnSpc>
              </a:pPr>
              <a:r>
                <a:rPr lang="en-US" b="true" sz="946">
                  <a:solidFill>
                    <a:srgbClr val="33333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Analysis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954627" y="3832811"/>
            <a:ext cx="1547363" cy="332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9"/>
              </a:lnSpc>
            </a:pPr>
            <a:r>
              <a:rPr lang="en-US" b="true" sz="1015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 </a:t>
            </a:r>
            <a:r>
              <a:rPr lang="en-US" b="true" sz="1015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Service → App Gateway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737328" y="3832811"/>
            <a:ext cx="1547363" cy="332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9"/>
              </a:lnSpc>
            </a:pPr>
            <a:r>
              <a:rPr lang="en-US" b="true" sz="1015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  <a:r>
              <a:rPr lang="en-US" b="true" sz="1015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pp Gateway → Azure Front Door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520029" y="3832811"/>
            <a:ext cx="1547363" cy="16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9"/>
              </a:lnSpc>
            </a:pPr>
            <a:r>
              <a:rPr lang="en-US" b="true" sz="1015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</a:t>
            </a:r>
            <a:r>
              <a:rPr lang="en-US" b="true" sz="1015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nt Door → User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-5262243" y="3304520"/>
            <a:ext cx="9753600" cy="3144561"/>
          </a:xfrm>
          <a:custGeom>
            <a:avLst/>
            <a:gdLst/>
            <a:ahLst/>
            <a:cxnLst/>
            <a:rect r="r" b="b" t="t" l="l"/>
            <a:pathLst>
              <a:path h="3144561" w="9753600">
                <a:moveTo>
                  <a:pt x="9753600" y="0"/>
                </a:moveTo>
                <a:lnTo>
                  <a:pt x="0" y="0"/>
                </a:lnTo>
                <a:lnTo>
                  <a:pt x="0" y="3144560"/>
                </a:lnTo>
                <a:lnTo>
                  <a:pt x="9753600" y="3144560"/>
                </a:lnTo>
                <a:lnTo>
                  <a:pt x="97536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4382" y="2403813"/>
            <a:ext cx="2160553" cy="1743795"/>
            <a:chOff x="0" y="0"/>
            <a:chExt cx="792681" cy="6397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92681" cy="639777"/>
            </a:xfrm>
            <a:custGeom>
              <a:avLst/>
              <a:gdLst/>
              <a:ahLst/>
              <a:cxnLst/>
              <a:rect r="r" b="b" t="t" l="l"/>
              <a:pathLst>
                <a:path h="639777" w="792681">
                  <a:moveTo>
                    <a:pt x="128999" y="0"/>
                  </a:moveTo>
                  <a:lnTo>
                    <a:pt x="663682" y="0"/>
                  </a:lnTo>
                  <a:cubicBezTo>
                    <a:pt x="697895" y="0"/>
                    <a:pt x="730706" y="13591"/>
                    <a:pt x="754898" y="37783"/>
                  </a:cubicBezTo>
                  <a:cubicBezTo>
                    <a:pt x="779090" y="61975"/>
                    <a:pt x="792681" y="94786"/>
                    <a:pt x="792681" y="128999"/>
                  </a:cubicBezTo>
                  <a:lnTo>
                    <a:pt x="792681" y="510778"/>
                  </a:lnTo>
                  <a:cubicBezTo>
                    <a:pt x="792681" y="544991"/>
                    <a:pt x="779090" y="577802"/>
                    <a:pt x="754898" y="601994"/>
                  </a:cubicBezTo>
                  <a:cubicBezTo>
                    <a:pt x="730706" y="626186"/>
                    <a:pt x="697895" y="639777"/>
                    <a:pt x="663682" y="639777"/>
                  </a:cubicBezTo>
                  <a:lnTo>
                    <a:pt x="128999" y="639777"/>
                  </a:lnTo>
                  <a:cubicBezTo>
                    <a:pt x="94786" y="639777"/>
                    <a:pt x="61975" y="626186"/>
                    <a:pt x="37783" y="601994"/>
                  </a:cubicBezTo>
                  <a:cubicBezTo>
                    <a:pt x="13591" y="577802"/>
                    <a:pt x="0" y="544991"/>
                    <a:pt x="0" y="510778"/>
                  </a:cubicBezTo>
                  <a:lnTo>
                    <a:pt x="0" y="128999"/>
                  </a:lnTo>
                  <a:cubicBezTo>
                    <a:pt x="0" y="94786"/>
                    <a:pt x="13591" y="61975"/>
                    <a:pt x="37783" y="37783"/>
                  </a:cubicBezTo>
                  <a:cubicBezTo>
                    <a:pt x="61975" y="13591"/>
                    <a:pt x="94786" y="0"/>
                    <a:pt x="128999" y="0"/>
                  </a:cubicBezTo>
                  <a:close/>
                </a:path>
              </a:pathLst>
            </a:custGeom>
            <a:solidFill>
              <a:srgbClr val="DFE9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792681" cy="592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81464" y="1865861"/>
            <a:ext cx="886390" cy="88639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4CC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0"/>
                </a:lnSpc>
              </a:pPr>
              <a:r>
                <a:rPr lang="en-US" sz="21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01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5400000">
            <a:off x="5281293" y="866120"/>
            <a:ext cx="9753600" cy="3144561"/>
          </a:xfrm>
          <a:custGeom>
            <a:avLst/>
            <a:gdLst/>
            <a:ahLst/>
            <a:cxnLst/>
            <a:rect r="r" b="b" t="t" l="l"/>
            <a:pathLst>
              <a:path h="3144561" w="9753600">
                <a:moveTo>
                  <a:pt x="0" y="3144560"/>
                </a:moveTo>
                <a:lnTo>
                  <a:pt x="9753600" y="3144560"/>
                </a:lnTo>
                <a:lnTo>
                  <a:pt x="9753600" y="0"/>
                </a:lnTo>
                <a:lnTo>
                  <a:pt x="0" y="0"/>
                </a:lnTo>
                <a:lnTo>
                  <a:pt x="0" y="314456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31520" y="731520"/>
            <a:ext cx="794385" cy="794385"/>
          </a:xfrm>
          <a:custGeom>
            <a:avLst/>
            <a:gdLst/>
            <a:ahLst/>
            <a:cxnLst/>
            <a:rect r="r" b="b" t="t" l="l"/>
            <a:pathLst>
              <a:path h="794385" w="794385">
                <a:moveTo>
                  <a:pt x="0" y="0"/>
                </a:moveTo>
                <a:lnTo>
                  <a:pt x="794385" y="0"/>
                </a:lnTo>
                <a:lnTo>
                  <a:pt x="794385" y="794385"/>
                </a:lnTo>
                <a:lnTo>
                  <a:pt x="0" y="7943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368793" y="6690760"/>
            <a:ext cx="1248880" cy="1248880"/>
          </a:xfrm>
          <a:custGeom>
            <a:avLst/>
            <a:gdLst/>
            <a:ahLst/>
            <a:cxnLst/>
            <a:rect r="r" b="b" t="t" l="l"/>
            <a:pathLst>
              <a:path h="1248880" w="1248880">
                <a:moveTo>
                  <a:pt x="0" y="0"/>
                </a:moveTo>
                <a:lnTo>
                  <a:pt x="1248880" y="0"/>
                </a:lnTo>
                <a:lnTo>
                  <a:pt x="1248880" y="1248880"/>
                </a:lnTo>
                <a:lnTo>
                  <a:pt x="0" y="12488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00114" y="836295"/>
            <a:ext cx="6353372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80"/>
              </a:lnSpc>
            </a:pPr>
            <a:r>
              <a:rPr lang="en-US" sz="4200">
                <a:solidFill>
                  <a:srgbClr val="1F3685"/>
                </a:solidFill>
                <a:latin typeface="Archivo Black"/>
                <a:ea typeface="Archivo Black"/>
                <a:cs typeface="Archivo Black"/>
                <a:sym typeface="Archivo Black"/>
              </a:rPr>
              <a:t>KEY BENEFITS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9699" y="3057051"/>
            <a:ext cx="2072063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cure packet flow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3797562" y="2403813"/>
            <a:ext cx="2160553" cy="1743795"/>
            <a:chOff x="0" y="0"/>
            <a:chExt cx="792681" cy="6397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92681" cy="639777"/>
            </a:xfrm>
            <a:custGeom>
              <a:avLst/>
              <a:gdLst/>
              <a:ahLst/>
              <a:cxnLst/>
              <a:rect r="r" b="b" t="t" l="l"/>
              <a:pathLst>
                <a:path h="639777" w="792681">
                  <a:moveTo>
                    <a:pt x="128999" y="0"/>
                  </a:moveTo>
                  <a:lnTo>
                    <a:pt x="663682" y="0"/>
                  </a:lnTo>
                  <a:cubicBezTo>
                    <a:pt x="697895" y="0"/>
                    <a:pt x="730706" y="13591"/>
                    <a:pt x="754898" y="37783"/>
                  </a:cubicBezTo>
                  <a:cubicBezTo>
                    <a:pt x="779090" y="61975"/>
                    <a:pt x="792681" y="94786"/>
                    <a:pt x="792681" y="128999"/>
                  </a:cubicBezTo>
                  <a:lnTo>
                    <a:pt x="792681" y="510778"/>
                  </a:lnTo>
                  <a:cubicBezTo>
                    <a:pt x="792681" y="544991"/>
                    <a:pt x="779090" y="577802"/>
                    <a:pt x="754898" y="601994"/>
                  </a:cubicBezTo>
                  <a:cubicBezTo>
                    <a:pt x="730706" y="626186"/>
                    <a:pt x="697895" y="639777"/>
                    <a:pt x="663682" y="639777"/>
                  </a:cubicBezTo>
                  <a:lnTo>
                    <a:pt x="128999" y="639777"/>
                  </a:lnTo>
                  <a:cubicBezTo>
                    <a:pt x="94786" y="639777"/>
                    <a:pt x="61975" y="626186"/>
                    <a:pt x="37783" y="601994"/>
                  </a:cubicBezTo>
                  <a:cubicBezTo>
                    <a:pt x="13591" y="577802"/>
                    <a:pt x="0" y="544991"/>
                    <a:pt x="0" y="510778"/>
                  </a:cubicBezTo>
                  <a:lnTo>
                    <a:pt x="0" y="128999"/>
                  </a:lnTo>
                  <a:cubicBezTo>
                    <a:pt x="0" y="94786"/>
                    <a:pt x="13591" y="61975"/>
                    <a:pt x="37783" y="37783"/>
                  </a:cubicBezTo>
                  <a:cubicBezTo>
                    <a:pt x="61975" y="13591"/>
                    <a:pt x="94786" y="0"/>
                    <a:pt x="128999" y="0"/>
                  </a:cubicBezTo>
                  <a:close/>
                </a:path>
              </a:pathLst>
            </a:custGeom>
            <a:solidFill>
              <a:srgbClr val="DFE9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47625"/>
              <a:ext cx="792681" cy="592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434644" y="1865861"/>
            <a:ext cx="886390" cy="88639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4CC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0"/>
                </a:lnSpc>
              </a:pPr>
              <a:r>
                <a:rPr lang="en-US" sz="21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02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888129" y="3101212"/>
            <a:ext cx="177402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Low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latency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548665" y="2403813"/>
            <a:ext cx="2160553" cy="1743795"/>
            <a:chOff x="0" y="0"/>
            <a:chExt cx="792681" cy="63977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92681" cy="639777"/>
            </a:xfrm>
            <a:custGeom>
              <a:avLst/>
              <a:gdLst/>
              <a:ahLst/>
              <a:cxnLst/>
              <a:rect r="r" b="b" t="t" l="l"/>
              <a:pathLst>
                <a:path h="639777" w="792681">
                  <a:moveTo>
                    <a:pt x="128999" y="0"/>
                  </a:moveTo>
                  <a:lnTo>
                    <a:pt x="663682" y="0"/>
                  </a:lnTo>
                  <a:cubicBezTo>
                    <a:pt x="697895" y="0"/>
                    <a:pt x="730706" y="13591"/>
                    <a:pt x="754898" y="37783"/>
                  </a:cubicBezTo>
                  <a:cubicBezTo>
                    <a:pt x="779090" y="61975"/>
                    <a:pt x="792681" y="94786"/>
                    <a:pt x="792681" y="128999"/>
                  </a:cubicBezTo>
                  <a:lnTo>
                    <a:pt x="792681" y="510778"/>
                  </a:lnTo>
                  <a:cubicBezTo>
                    <a:pt x="792681" y="544991"/>
                    <a:pt x="779090" y="577802"/>
                    <a:pt x="754898" y="601994"/>
                  </a:cubicBezTo>
                  <a:cubicBezTo>
                    <a:pt x="730706" y="626186"/>
                    <a:pt x="697895" y="639777"/>
                    <a:pt x="663682" y="639777"/>
                  </a:cubicBezTo>
                  <a:lnTo>
                    <a:pt x="128999" y="639777"/>
                  </a:lnTo>
                  <a:cubicBezTo>
                    <a:pt x="94786" y="639777"/>
                    <a:pt x="61975" y="626186"/>
                    <a:pt x="37783" y="601994"/>
                  </a:cubicBezTo>
                  <a:cubicBezTo>
                    <a:pt x="13591" y="577802"/>
                    <a:pt x="0" y="544991"/>
                    <a:pt x="0" y="510778"/>
                  </a:cubicBezTo>
                  <a:lnTo>
                    <a:pt x="0" y="128999"/>
                  </a:lnTo>
                  <a:cubicBezTo>
                    <a:pt x="0" y="94786"/>
                    <a:pt x="13591" y="61975"/>
                    <a:pt x="37783" y="37783"/>
                  </a:cubicBezTo>
                  <a:cubicBezTo>
                    <a:pt x="61975" y="13591"/>
                    <a:pt x="94786" y="0"/>
                    <a:pt x="128999" y="0"/>
                  </a:cubicBezTo>
                  <a:close/>
                </a:path>
              </a:pathLst>
            </a:custGeom>
            <a:solidFill>
              <a:srgbClr val="DFE9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47625"/>
              <a:ext cx="792681" cy="592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185746" y="1865861"/>
            <a:ext cx="886390" cy="886390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4CC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0"/>
                </a:lnSpc>
              </a:pPr>
              <a:r>
                <a:rPr lang="en-US" sz="21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03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480359" y="3101212"/>
            <a:ext cx="222885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High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availability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2681056" y="4816262"/>
            <a:ext cx="2160553" cy="1743795"/>
            <a:chOff x="0" y="0"/>
            <a:chExt cx="792681" cy="63977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92681" cy="639777"/>
            </a:xfrm>
            <a:custGeom>
              <a:avLst/>
              <a:gdLst/>
              <a:ahLst/>
              <a:cxnLst/>
              <a:rect r="r" b="b" t="t" l="l"/>
              <a:pathLst>
                <a:path h="639777" w="792681">
                  <a:moveTo>
                    <a:pt x="128999" y="0"/>
                  </a:moveTo>
                  <a:lnTo>
                    <a:pt x="663682" y="0"/>
                  </a:lnTo>
                  <a:cubicBezTo>
                    <a:pt x="697895" y="0"/>
                    <a:pt x="730706" y="13591"/>
                    <a:pt x="754898" y="37783"/>
                  </a:cubicBezTo>
                  <a:cubicBezTo>
                    <a:pt x="779090" y="61975"/>
                    <a:pt x="792681" y="94786"/>
                    <a:pt x="792681" y="128999"/>
                  </a:cubicBezTo>
                  <a:lnTo>
                    <a:pt x="792681" y="510778"/>
                  </a:lnTo>
                  <a:cubicBezTo>
                    <a:pt x="792681" y="544991"/>
                    <a:pt x="779090" y="577802"/>
                    <a:pt x="754898" y="601994"/>
                  </a:cubicBezTo>
                  <a:cubicBezTo>
                    <a:pt x="730706" y="626186"/>
                    <a:pt x="697895" y="639777"/>
                    <a:pt x="663682" y="639777"/>
                  </a:cubicBezTo>
                  <a:lnTo>
                    <a:pt x="128999" y="639777"/>
                  </a:lnTo>
                  <a:cubicBezTo>
                    <a:pt x="94786" y="639777"/>
                    <a:pt x="61975" y="626186"/>
                    <a:pt x="37783" y="601994"/>
                  </a:cubicBezTo>
                  <a:cubicBezTo>
                    <a:pt x="13591" y="577802"/>
                    <a:pt x="0" y="544991"/>
                    <a:pt x="0" y="510778"/>
                  </a:cubicBezTo>
                  <a:lnTo>
                    <a:pt x="0" y="128999"/>
                  </a:lnTo>
                  <a:cubicBezTo>
                    <a:pt x="0" y="94786"/>
                    <a:pt x="13591" y="61975"/>
                    <a:pt x="37783" y="37783"/>
                  </a:cubicBezTo>
                  <a:cubicBezTo>
                    <a:pt x="61975" y="13591"/>
                    <a:pt x="94786" y="0"/>
                    <a:pt x="128999" y="0"/>
                  </a:cubicBezTo>
                  <a:close/>
                </a:path>
              </a:pathLst>
            </a:custGeom>
            <a:solidFill>
              <a:srgbClr val="DFE9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47625"/>
              <a:ext cx="792681" cy="592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318137" y="4278311"/>
            <a:ext cx="886390" cy="886390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4CC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0"/>
                </a:lnSpc>
              </a:pPr>
              <a:r>
                <a:rPr lang="en-US" sz="21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04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2550030" y="5469501"/>
            <a:ext cx="232474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calable design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434235" y="4816262"/>
            <a:ext cx="2160553" cy="1743795"/>
            <a:chOff x="0" y="0"/>
            <a:chExt cx="792681" cy="63977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92681" cy="639777"/>
            </a:xfrm>
            <a:custGeom>
              <a:avLst/>
              <a:gdLst/>
              <a:ahLst/>
              <a:cxnLst/>
              <a:rect r="r" b="b" t="t" l="l"/>
              <a:pathLst>
                <a:path h="639777" w="792681">
                  <a:moveTo>
                    <a:pt x="128999" y="0"/>
                  </a:moveTo>
                  <a:lnTo>
                    <a:pt x="663682" y="0"/>
                  </a:lnTo>
                  <a:cubicBezTo>
                    <a:pt x="697895" y="0"/>
                    <a:pt x="730706" y="13591"/>
                    <a:pt x="754898" y="37783"/>
                  </a:cubicBezTo>
                  <a:cubicBezTo>
                    <a:pt x="779090" y="61975"/>
                    <a:pt x="792681" y="94786"/>
                    <a:pt x="792681" y="128999"/>
                  </a:cubicBezTo>
                  <a:lnTo>
                    <a:pt x="792681" y="510778"/>
                  </a:lnTo>
                  <a:cubicBezTo>
                    <a:pt x="792681" y="544991"/>
                    <a:pt x="779090" y="577802"/>
                    <a:pt x="754898" y="601994"/>
                  </a:cubicBezTo>
                  <a:cubicBezTo>
                    <a:pt x="730706" y="626186"/>
                    <a:pt x="697895" y="639777"/>
                    <a:pt x="663682" y="639777"/>
                  </a:cubicBezTo>
                  <a:lnTo>
                    <a:pt x="128999" y="639777"/>
                  </a:lnTo>
                  <a:cubicBezTo>
                    <a:pt x="94786" y="639777"/>
                    <a:pt x="61975" y="626186"/>
                    <a:pt x="37783" y="601994"/>
                  </a:cubicBezTo>
                  <a:cubicBezTo>
                    <a:pt x="13591" y="577802"/>
                    <a:pt x="0" y="544991"/>
                    <a:pt x="0" y="510778"/>
                  </a:cubicBezTo>
                  <a:lnTo>
                    <a:pt x="0" y="128999"/>
                  </a:lnTo>
                  <a:cubicBezTo>
                    <a:pt x="0" y="94786"/>
                    <a:pt x="13591" y="61975"/>
                    <a:pt x="37783" y="37783"/>
                  </a:cubicBezTo>
                  <a:cubicBezTo>
                    <a:pt x="61975" y="13591"/>
                    <a:pt x="94786" y="0"/>
                    <a:pt x="128999" y="0"/>
                  </a:cubicBezTo>
                  <a:close/>
                </a:path>
              </a:pathLst>
            </a:custGeom>
            <a:solidFill>
              <a:srgbClr val="DFE9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47625"/>
              <a:ext cx="792681" cy="5921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071317" y="4278311"/>
            <a:ext cx="886390" cy="886390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4CC0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90"/>
                </a:lnSpc>
              </a:pPr>
              <a:r>
                <a:rPr lang="en-US" sz="2100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05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5575339" y="5513661"/>
            <a:ext cx="1672954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terprise-ready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979680" y="1835665"/>
            <a:ext cx="4169090" cy="834210"/>
          </a:xfrm>
          <a:custGeom>
            <a:avLst/>
            <a:gdLst/>
            <a:ahLst/>
            <a:cxnLst/>
            <a:rect r="r" b="b" t="t" l="l"/>
            <a:pathLst>
              <a:path h="834210" w="4169090">
                <a:moveTo>
                  <a:pt x="0" y="0"/>
                </a:moveTo>
                <a:lnTo>
                  <a:pt x="4169090" y="0"/>
                </a:lnTo>
                <a:lnTo>
                  <a:pt x="4169090" y="834210"/>
                </a:lnTo>
                <a:lnTo>
                  <a:pt x="0" y="834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6014" t="0" r="-67935" b="-27695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1520" y="3000586"/>
            <a:ext cx="4284213" cy="959538"/>
            <a:chOff x="0" y="0"/>
            <a:chExt cx="1586746" cy="3553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86746" cy="355385"/>
            </a:xfrm>
            <a:custGeom>
              <a:avLst/>
              <a:gdLst/>
              <a:ahLst/>
              <a:cxnLst/>
              <a:rect r="r" b="b" t="t" l="l"/>
              <a:pathLst>
                <a:path h="355385" w="1586746">
                  <a:moveTo>
                    <a:pt x="65055" y="0"/>
                  </a:moveTo>
                  <a:lnTo>
                    <a:pt x="1521691" y="0"/>
                  </a:lnTo>
                  <a:cubicBezTo>
                    <a:pt x="1557620" y="0"/>
                    <a:pt x="1586746" y="29126"/>
                    <a:pt x="1586746" y="65055"/>
                  </a:cubicBezTo>
                  <a:lnTo>
                    <a:pt x="1586746" y="290330"/>
                  </a:lnTo>
                  <a:cubicBezTo>
                    <a:pt x="1586746" y="307583"/>
                    <a:pt x="1579892" y="324130"/>
                    <a:pt x="1567691" y="336330"/>
                  </a:cubicBezTo>
                  <a:cubicBezTo>
                    <a:pt x="1555491" y="348531"/>
                    <a:pt x="1538944" y="355385"/>
                    <a:pt x="1521691" y="355385"/>
                  </a:cubicBezTo>
                  <a:lnTo>
                    <a:pt x="65055" y="355385"/>
                  </a:lnTo>
                  <a:cubicBezTo>
                    <a:pt x="47801" y="355385"/>
                    <a:pt x="31254" y="348531"/>
                    <a:pt x="19054" y="336330"/>
                  </a:cubicBezTo>
                  <a:cubicBezTo>
                    <a:pt x="6854" y="324130"/>
                    <a:pt x="0" y="307583"/>
                    <a:pt x="0" y="290330"/>
                  </a:cubicBezTo>
                  <a:lnTo>
                    <a:pt x="0" y="65055"/>
                  </a:lnTo>
                  <a:cubicBezTo>
                    <a:pt x="0" y="47801"/>
                    <a:pt x="6854" y="31254"/>
                    <a:pt x="19054" y="19054"/>
                  </a:cubicBezTo>
                  <a:cubicBezTo>
                    <a:pt x="31254" y="6854"/>
                    <a:pt x="47801" y="0"/>
                    <a:pt x="65055" y="0"/>
                  </a:cubicBezTo>
                  <a:close/>
                </a:path>
              </a:pathLst>
            </a:custGeom>
            <a:solidFill>
              <a:srgbClr val="2B4CC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47625"/>
              <a:ext cx="1586746" cy="3077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31520" y="4067095"/>
            <a:ext cx="4284213" cy="959538"/>
            <a:chOff x="0" y="0"/>
            <a:chExt cx="1586746" cy="3553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86746" cy="355385"/>
            </a:xfrm>
            <a:custGeom>
              <a:avLst/>
              <a:gdLst/>
              <a:ahLst/>
              <a:cxnLst/>
              <a:rect r="r" b="b" t="t" l="l"/>
              <a:pathLst>
                <a:path h="355385" w="1586746">
                  <a:moveTo>
                    <a:pt x="65055" y="0"/>
                  </a:moveTo>
                  <a:lnTo>
                    <a:pt x="1521691" y="0"/>
                  </a:lnTo>
                  <a:cubicBezTo>
                    <a:pt x="1557620" y="0"/>
                    <a:pt x="1586746" y="29126"/>
                    <a:pt x="1586746" y="65055"/>
                  </a:cubicBezTo>
                  <a:lnTo>
                    <a:pt x="1586746" y="290330"/>
                  </a:lnTo>
                  <a:cubicBezTo>
                    <a:pt x="1586746" y="307583"/>
                    <a:pt x="1579892" y="324130"/>
                    <a:pt x="1567691" y="336330"/>
                  </a:cubicBezTo>
                  <a:cubicBezTo>
                    <a:pt x="1555491" y="348531"/>
                    <a:pt x="1538944" y="355385"/>
                    <a:pt x="1521691" y="355385"/>
                  </a:cubicBezTo>
                  <a:lnTo>
                    <a:pt x="65055" y="355385"/>
                  </a:lnTo>
                  <a:cubicBezTo>
                    <a:pt x="47801" y="355385"/>
                    <a:pt x="31254" y="348531"/>
                    <a:pt x="19054" y="336330"/>
                  </a:cubicBezTo>
                  <a:cubicBezTo>
                    <a:pt x="6854" y="324130"/>
                    <a:pt x="0" y="307583"/>
                    <a:pt x="0" y="290330"/>
                  </a:cubicBezTo>
                  <a:lnTo>
                    <a:pt x="0" y="65055"/>
                  </a:lnTo>
                  <a:cubicBezTo>
                    <a:pt x="0" y="47801"/>
                    <a:pt x="6854" y="31254"/>
                    <a:pt x="19054" y="19054"/>
                  </a:cubicBezTo>
                  <a:cubicBezTo>
                    <a:pt x="31254" y="6854"/>
                    <a:pt x="47801" y="0"/>
                    <a:pt x="65055" y="0"/>
                  </a:cubicBezTo>
                  <a:close/>
                </a:path>
              </a:pathLst>
            </a:custGeom>
            <a:solidFill>
              <a:srgbClr val="DFE9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1586746" cy="3077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1520" y="5131408"/>
            <a:ext cx="4284213" cy="959538"/>
            <a:chOff x="0" y="0"/>
            <a:chExt cx="1586746" cy="3553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86746" cy="355385"/>
            </a:xfrm>
            <a:custGeom>
              <a:avLst/>
              <a:gdLst/>
              <a:ahLst/>
              <a:cxnLst/>
              <a:rect r="r" b="b" t="t" l="l"/>
              <a:pathLst>
                <a:path h="355385" w="1586746">
                  <a:moveTo>
                    <a:pt x="65055" y="0"/>
                  </a:moveTo>
                  <a:lnTo>
                    <a:pt x="1521691" y="0"/>
                  </a:lnTo>
                  <a:cubicBezTo>
                    <a:pt x="1557620" y="0"/>
                    <a:pt x="1586746" y="29126"/>
                    <a:pt x="1586746" y="65055"/>
                  </a:cubicBezTo>
                  <a:lnTo>
                    <a:pt x="1586746" y="290330"/>
                  </a:lnTo>
                  <a:cubicBezTo>
                    <a:pt x="1586746" y="307583"/>
                    <a:pt x="1579892" y="324130"/>
                    <a:pt x="1567691" y="336330"/>
                  </a:cubicBezTo>
                  <a:cubicBezTo>
                    <a:pt x="1555491" y="348531"/>
                    <a:pt x="1538944" y="355385"/>
                    <a:pt x="1521691" y="355385"/>
                  </a:cubicBezTo>
                  <a:lnTo>
                    <a:pt x="65055" y="355385"/>
                  </a:lnTo>
                  <a:cubicBezTo>
                    <a:pt x="47801" y="355385"/>
                    <a:pt x="31254" y="348531"/>
                    <a:pt x="19054" y="336330"/>
                  </a:cubicBezTo>
                  <a:cubicBezTo>
                    <a:pt x="6854" y="324130"/>
                    <a:pt x="0" y="307583"/>
                    <a:pt x="0" y="290330"/>
                  </a:cubicBezTo>
                  <a:lnTo>
                    <a:pt x="0" y="65055"/>
                  </a:lnTo>
                  <a:cubicBezTo>
                    <a:pt x="0" y="47801"/>
                    <a:pt x="6854" y="31254"/>
                    <a:pt x="19054" y="19054"/>
                  </a:cubicBezTo>
                  <a:cubicBezTo>
                    <a:pt x="31254" y="6854"/>
                    <a:pt x="47801" y="0"/>
                    <a:pt x="65055" y="0"/>
                  </a:cubicBezTo>
                  <a:close/>
                </a:path>
              </a:pathLst>
            </a:custGeom>
            <a:solidFill>
              <a:srgbClr val="2B4CC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47625"/>
              <a:ext cx="1586746" cy="3077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98996" y="1058259"/>
            <a:ext cx="6048002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4200">
                <a:solidFill>
                  <a:srgbClr val="1F3685"/>
                </a:solidFill>
                <a:latin typeface="Archivo Black"/>
                <a:ea typeface="Archivo Black"/>
                <a:cs typeface="Archivo Black"/>
                <a:sym typeface="Archivo Black"/>
              </a:rPr>
              <a:t>FINAL SUMMARY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8996" y="3173650"/>
            <a:ext cx="2753961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3" indent="-194312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End-to-end packet flow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8996" y="4373364"/>
            <a:ext cx="302400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3" indent="-194312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Fully secured path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8996" y="5281612"/>
            <a:ext cx="2753961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3" indent="-194312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Private backend access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631981" y="-658579"/>
            <a:ext cx="2780198" cy="278019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FE9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631981" y="1242969"/>
            <a:ext cx="1009800" cy="1009800"/>
          </a:xfrm>
          <a:custGeom>
            <a:avLst/>
            <a:gdLst/>
            <a:ahLst/>
            <a:cxnLst/>
            <a:rect r="r" b="b" t="t" l="l"/>
            <a:pathLst>
              <a:path h="1009800" w="1009800">
                <a:moveTo>
                  <a:pt x="0" y="0"/>
                </a:moveTo>
                <a:lnTo>
                  <a:pt x="1009800" y="0"/>
                </a:lnTo>
                <a:lnTo>
                  <a:pt x="1009800" y="1009801"/>
                </a:lnTo>
                <a:lnTo>
                  <a:pt x="0" y="10098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5225283" y="3000586"/>
            <a:ext cx="3416498" cy="3090361"/>
            <a:chOff x="0" y="0"/>
            <a:chExt cx="1265370" cy="11445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5370" cy="1144578"/>
            </a:xfrm>
            <a:custGeom>
              <a:avLst/>
              <a:gdLst/>
              <a:ahLst/>
              <a:cxnLst/>
              <a:rect r="r" b="b" t="t" l="l"/>
              <a:pathLst>
                <a:path h="1144578" w="1265370">
                  <a:moveTo>
                    <a:pt x="81577" y="0"/>
                  </a:moveTo>
                  <a:lnTo>
                    <a:pt x="1183792" y="0"/>
                  </a:lnTo>
                  <a:cubicBezTo>
                    <a:pt x="1228846" y="0"/>
                    <a:pt x="1265370" y="36523"/>
                    <a:pt x="1265370" y="81577"/>
                  </a:cubicBezTo>
                  <a:lnTo>
                    <a:pt x="1265370" y="1063001"/>
                  </a:lnTo>
                  <a:cubicBezTo>
                    <a:pt x="1265370" y="1108055"/>
                    <a:pt x="1228846" y="1144578"/>
                    <a:pt x="1183792" y="1144578"/>
                  </a:cubicBezTo>
                  <a:lnTo>
                    <a:pt x="81577" y="1144578"/>
                  </a:lnTo>
                  <a:cubicBezTo>
                    <a:pt x="36523" y="1144578"/>
                    <a:pt x="0" y="1108055"/>
                    <a:pt x="0" y="1063001"/>
                  </a:cubicBezTo>
                  <a:lnTo>
                    <a:pt x="0" y="81577"/>
                  </a:lnTo>
                  <a:cubicBezTo>
                    <a:pt x="0" y="36523"/>
                    <a:pt x="36523" y="0"/>
                    <a:pt x="81577" y="0"/>
                  </a:cubicBezTo>
                  <a:close/>
                </a:path>
              </a:pathLst>
            </a:custGeom>
            <a:solidFill>
              <a:srgbClr val="2B4CC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47625"/>
              <a:ext cx="1265370" cy="1096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902833" y="4216201"/>
            <a:ext cx="2061398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3" indent="-194312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Azure best practices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468518" y="3215144"/>
            <a:ext cx="9753600" cy="3144561"/>
          </a:xfrm>
          <a:custGeom>
            <a:avLst/>
            <a:gdLst/>
            <a:ahLst/>
            <a:cxnLst/>
            <a:rect r="r" b="b" t="t" l="l"/>
            <a:pathLst>
              <a:path h="3144561" w="9753600">
                <a:moveTo>
                  <a:pt x="0" y="0"/>
                </a:moveTo>
                <a:lnTo>
                  <a:pt x="9753600" y="0"/>
                </a:lnTo>
                <a:lnTo>
                  <a:pt x="9753600" y="3144561"/>
                </a:lnTo>
                <a:lnTo>
                  <a:pt x="0" y="3144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93295" y="4701235"/>
            <a:ext cx="1848606" cy="1848606"/>
          </a:xfrm>
          <a:custGeom>
            <a:avLst/>
            <a:gdLst/>
            <a:ahLst/>
            <a:cxnLst/>
            <a:rect r="r" b="b" t="t" l="l"/>
            <a:pathLst>
              <a:path h="1848606" w="1848606">
                <a:moveTo>
                  <a:pt x="0" y="0"/>
                </a:moveTo>
                <a:lnTo>
                  <a:pt x="1848606" y="0"/>
                </a:lnTo>
                <a:lnTo>
                  <a:pt x="1848606" y="1848606"/>
                </a:lnTo>
                <a:lnTo>
                  <a:pt x="0" y="18486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24742" y="2916354"/>
            <a:ext cx="4823433" cy="209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19"/>
              </a:lnSpc>
            </a:pPr>
            <a:r>
              <a:rPr lang="en-US" sz="8799">
                <a:solidFill>
                  <a:srgbClr val="1F3685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YOU!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4037015" y="2745311"/>
            <a:ext cx="4536893" cy="453689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FE9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02547" y="3151668"/>
            <a:ext cx="1461327" cy="146132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4CC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2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DAG92_xOAbk</dc:identifier>
  <dcterms:modified xsi:type="dcterms:W3CDTF">2011-08-01T06:04:30Z</dcterms:modified>
  <cp:revision>1</cp:revision>
  <dc:title>White and Blue Professional Finance Report Presentation</dc:title>
</cp:coreProperties>
</file>